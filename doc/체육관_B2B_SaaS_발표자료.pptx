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체육관 B2B SaaS 플랫폼 최종 발표. 관리자가 여러 체육관에 납품하는 멀티테넌트 구조이며, 운영 관리 + 이탈 예측 + AI 비서 3축으로 구성됩니다.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총 8개 섹션으로 발표를 진행합니다.</a:t>
            </a:r>
            <a:endParaRPr/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요구사항 117건 중 100건 완료(85.5%), 진행중 2건, 대기 15건. 대기는 대부분 Phase 2 이후로 미룬 항목입니다.</a:t>
            </a:r>
            <a:endParaRPr/>
          </a:p>
        </p:txBody>
      </p:sp>
      <p:sp>
        <p:nvSpPr>
          <p:cNvPr id="78" name="Google Shape;7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역할 4계층이 이 프로젝트의 모든 권한 판단의 기준입니다. 지점 정보는 항상 서버가 JWT에서 파생합니다.</a:t>
            </a:r>
            <a:endParaRPr/>
          </a:p>
        </p:txBody>
      </p:sp>
      <p:sp>
        <p:nvSpPr>
          <p:cNvPr id="112" name="Google Shape;11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프론트는 외부 상태관리 없이 React 훅만 사용했고, 백엔드는 MyBatis XML로 SQL을 직접 작성했습니다.</a:t>
            </a:r>
            <a:endParaRPr/>
          </a:p>
        </p:txBody>
      </p:sp>
      <p:sp>
        <p:nvSpPr>
          <p:cNvPr id="160" name="Google Shape;16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ML은 별도 FastAPI 프로세스로 분리해 Spring Boot 재배포 없이 모델만 교체할 수 있게 했습니다.</a:t>
            </a:r>
            <a:endParaRPr/>
          </a:p>
        </p:txBody>
      </p:sp>
      <p:sp>
        <p:nvSpPr>
          <p:cNvPr id="187" name="Google Shape;18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MyBatis Mapper 인터페이스는 몸통이 없고, 같은 이름의 XML에 id로 연결되어 SQL이 실행됩니다.</a:t>
            </a:r>
            <a:endParaRPr/>
          </a:p>
        </p:txBody>
      </p:sp>
      <p:sp>
        <p:nvSpPr>
          <p:cNvPr id="254" name="Google Shape;25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깃 커밋 이력과 일정표 기준으로 담당을 정리했습니다. 소유권 규칙 덕분에 5명이 동시에 작업해도 머지 충돌이 거의 없었습니다.</a:t>
            </a:r>
            <a:endParaRPr/>
          </a:p>
        </p:txBody>
      </p:sp>
      <p:sp>
        <p:nvSpPr>
          <p:cNvPr id="299" name="Google Shape;29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두 사람이 백엔드 도메인 대부분을 나눠 맡았습니다.</a:t>
            </a:r>
            <a:endParaRPr/>
          </a:p>
        </p:txBody>
      </p:sp>
      <p:sp>
        <p:nvSpPr>
          <p:cNvPr id="343" name="Google Shape;34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두 사람이 인증·B2C 축과 머신러닝 축을 각각 맡았습니다.</a:t>
            </a:r>
            <a:endParaRPr/>
          </a:p>
        </p:txBody>
      </p:sp>
      <p:sp>
        <p:nvSpPr>
          <p:cNvPr id="391" name="Google Shape;39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계약이 결제·정산·출석·PT의 출발점이라서 이 도메인의 상태 규칙이 시스템 전체의 정합성을 좌우합니다.</a:t>
            </a:r>
            <a:endParaRPr/>
          </a:p>
        </p:txBody>
      </p:sp>
      <p:sp>
        <p:nvSpPr>
          <p:cNvPr id="442" name="Google Shape;44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6" name="Google Shape;50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결제는 5단계 중 하나라도 실패하면 전부 롤백됩니다. 결제는 됐는데 매출 기록이 빠지는 상황을 원천 차단합니다.</a:t>
            </a:r>
            <a:endParaRPr/>
          </a:p>
        </p:txBody>
      </p:sp>
      <p:sp>
        <p:nvSpPr>
          <p:cNvPr id="507" name="Google Shape;50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5" name="Google Shape;54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PT 출석은 회원이 접수하고 트레이너가 확인하는 2단 구조입니다. 확인 시점에만 차감되므로 노쇼나 오접수로 횟수가 사라지지 않습니다.</a:t>
            </a:r>
            <a:endParaRPr/>
          </a:p>
        </p:txBody>
      </p:sp>
      <p:sp>
        <p:nvSpPr>
          <p:cNvPr id="546" name="Google Shape;54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7" name="Google Shape;58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모델은 Spring Boot와 분리된 FastAPI 프로세스로 서빙되며, 배치는 서버가 떠 있지 않아도 DB에 직접 기록합니다.</a:t>
            </a:r>
            <a:endParaRPr/>
          </a:p>
        </p:txBody>
      </p:sp>
      <p:sp>
        <p:nvSpPr>
          <p:cNvPr id="588" name="Google Shape;58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2" name="Google Shape;64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설문 응답 여부로 모델을 갈라 둔 것이 이 구조의 핵심입니다. 데이터는 업계 통계 기반 시뮬레이션이라는 점도 먼저 밝히고 시작했습니다.</a:t>
            </a:r>
            <a:endParaRPr/>
          </a:p>
        </p:txBody>
      </p:sp>
      <p:sp>
        <p:nvSpPr>
          <p:cNvPr id="643" name="Google Shape;64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1" name="Google Shape;68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성능 수치는 프로토콜을 통일해 다시 측정한 값만 사용했습니다. 학습 데이터를 그대로 맞힌 0.919 같은 값은 근거에서 뺐습니다.</a:t>
            </a:r>
            <a:endParaRPr/>
          </a:p>
        </p:txBody>
      </p:sp>
      <p:sp>
        <p:nvSpPr>
          <p:cNvPr id="682" name="Google Shape;68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2" name="Google Shape;74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현재 Phase 1으로 OWNER + READ 전용입니다. 쓰기 도구는 사람 확인 카드를 거치도록 Phase 2에 설계돼 있습니다.</a:t>
            </a:r>
            <a:endParaRPr/>
          </a:p>
        </p:txBody>
      </p:sp>
      <p:sp>
        <p:nvSpPr>
          <p:cNvPr id="743" name="Google Shape;74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1" name="Google Shape;79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테이블 정의서로 27개 테이블의 컬럼·타입·PK/FK를 전부 문서화했습니다.</a:t>
            </a:r>
            <a:endParaRPr/>
          </a:p>
        </p:txBody>
      </p:sp>
      <p:sp>
        <p:nvSpPr>
          <p:cNvPr id="792" name="Google Shape;79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1" name="Google Shape;83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설계 결정은 항상 트레이드오프가 있었습니다. 무엇을 얻고 무엇을 포기했는지를 명시적으로 기록해두었습니다.</a:t>
            </a:r>
            <a:endParaRPr/>
          </a:p>
        </p:txBody>
      </p:sp>
      <p:sp>
        <p:nvSpPr>
          <p:cNvPr id="832" name="Google Shape;832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9" name="Google Shape;86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세 가지 모두 코드를 고치는 것보다 원인을 정확히 파악하는 데 시간이 더 걸린 문제였습니다.</a:t>
            </a:r>
            <a:endParaRPr/>
          </a:p>
        </p:txBody>
      </p:sp>
      <p:sp>
        <p:nvSpPr>
          <p:cNvPr id="870" name="Google Shape;870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1" name="Google Shape;89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알림은 편의를 위한 부수 효과인데 본 트랜잭션 안에 있어서, 알림이 실패하면 정산 자체가 사라졌습니다. sendAlarmSafely로 예외를 도메인 안에서 흡수하도록 바꾸고 같은 패턴을 출석·AI 알림에도 적용했습니다.</a:t>
            </a:r>
            <a:endParaRPr/>
          </a:p>
        </p:txBody>
      </p:sp>
      <p:sp>
        <p:nvSpPr>
          <p:cNvPr id="892" name="Google Shape;892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5" name="Google Shape;925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두 사례 모두 예외가 발생하지 않고 조용히 틀린 값을 보여주는 유형이라, 규칙으로 만들어 재발을 막았습니다.</a:t>
            </a:r>
            <a:endParaRPr/>
          </a:p>
        </p:txBody>
      </p:sp>
      <p:sp>
        <p:nvSpPr>
          <p:cNvPr id="926" name="Google Shape;926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7" name="Google Shape;95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 54회를 머지하는 동안 충돌이 거의 없었던 이유가 이 쓰기 소유권 규칙이었습니다.</a:t>
            </a:r>
            <a:endParaRPr/>
          </a:p>
        </p:txBody>
      </p:sp>
      <p:sp>
        <p:nvSpPr>
          <p:cNvPr id="958" name="Google Shape;958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6" name="Google Shape;986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대시보드 하단 AI 영역은 왼쪽은 AI 호출, 오른쪽은 결정적 집계라 동작이 다릅니다.</a:t>
            </a:r>
            <a:endParaRPr/>
          </a:p>
        </p:txBody>
      </p:sp>
      <p:sp>
        <p:nvSpPr>
          <p:cNvPr id="987" name="Google Shape;987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6" name="Google Shape;100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정산 화면의 순이익 2,653만원은 매출 3,060만원에서 지출 406만원을 뺀 값입니다.</a:t>
            </a:r>
            <a:endParaRPr/>
          </a:p>
        </p:txBody>
      </p:sp>
      <p:sp>
        <p:nvSpPr>
          <p:cNvPr id="1007" name="Google Shape;1007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3" name="Google Shape;1033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이탈 리포트는 확률만 보여주지 않고 SHAP 요인별로 대상 회원과 조치를 함께 제시합니다.</a:t>
            </a:r>
            <a:endParaRPr/>
          </a:p>
        </p:txBody>
      </p:sp>
      <p:sp>
        <p:nvSpPr>
          <p:cNvPr id="1034" name="Google Shape;1034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3" name="Google Shape;1053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B2C는 모바일 우선, B2B는 PC 우선으로 설계했습니다. 키오스크는 로그인 없이 도는 별도 화면입니다.</a:t>
            </a:r>
            <a:endParaRPr/>
          </a:p>
        </p:txBody>
      </p:sp>
      <p:sp>
        <p:nvSpPr>
          <p:cNvPr id="1054" name="Google Shape;1054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8" name="Google Shape;1078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Phase 2는 크레딧 충전만 되면 바로 시작할 수 있는 상태입니다. 프리뷰 게이트를 미리 넣어둔 것도 이 전환을 염두에 둔 설계였습니다.</a:t>
            </a:r>
            <a:endParaRPr/>
          </a:p>
        </p:txBody>
      </p:sp>
      <p:sp>
        <p:nvSpPr>
          <p:cNvPr id="1079" name="Google Shape;1079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7" name="Google Shape;1117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세 축 모두 지금 구조를 뜯지 않고 이어 붙이는 범위로 잡았습니다. 뺀 항목도 못 한 게 아니라 선행 작업이 필요해 다음 단계로 넘긴 것입니다.</a:t>
            </a:r>
            <a:endParaRPr/>
          </a:p>
        </p:txBody>
      </p:sp>
      <p:sp>
        <p:nvSpPr>
          <p:cNvPr id="1118" name="Google Shape;1118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7" name="Google Shape;1147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감사합니다.</a:t>
            </a:r>
            <a:endParaRPr/>
          </a:p>
        </p:txBody>
      </p:sp>
      <p:sp>
        <p:nvSpPr>
          <p:cNvPr id="1148" name="Google Shape;1148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jpg"/><Relationship Id="rId4" Type="http://schemas.openxmlformats.org/officeDocument/2006/relationships/image" Target="../media/image10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jpg"/><Relationship Id="rId4" Type="http://schemas.openxmlformats.org/officeDocument/2006/relationships/image" Target="../media/image1.jpg"/><Relationship Id="rId5" Type="http://schemas.openxmlformats.org/officeDocument/2006/relationships/image" Target="../media/image5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jpg"/><Relationship Id="rId4" Type="http://schemas.openxmlformats.org/officeDocument/2006/relationships/image" Target="../media/image6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jpg"/><Relationship Id="rId4" Type="http://schemas.openxmlformats.org/officeDocument/2006/relationships/image" Target="../media/image9.jpg"/><Relationship Id="rId5" Type="http://schemas.openxmlformats.org/officeDocument/2006/relationships/image" Target="../media/image2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7863840" y="1051560"/>
            <a:ext cx="3840480" cy="4754880"/>
          </a:xfrm>
          <a:prstGeom prst="roundRect">
            <a:avLst>
              <a:gd fmla="val 5714" name="adj"/>
            </a:avLst>
          </a:prstGeom>
          <a:solidFill>
            <a:srgbClr val="222222"/>
          </a:solidFill>
          <a:ln cap="flat" cmpd="sng" w="12700">
            <a:solidFill>
              <a:srgbClr val="2E2E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8183880" y="1417320"/>
            <a:ext cx="3200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FF6B00"/>
                </a:solidFill>
                <a:latin typeface="Malgun Gothic"/>
                <a:ea typeface="Malgun Gothic"/>
                <a:cs typeface="Malgun Gothic"/>
                <a:sym typeface="Malgun Gothic"/>
              </a:rPr>
              <a:t>Frontend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8183880" y="1673352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E8E8E8"/>
                </a:solidFill>
                <a:latin typeface="Malgun Gothic"/>
                <a:ea typeface="Malgun Gothic"/>
                <a:cs typeface="Malgun Gothic"/>
                <a:sym typeface="Malgun Gothic"/>
              </a:rPr>
              <a:t>React 19 · Vite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8183880" y="2286000"/>
            <a:ext cx="3200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FF6B00"/>
                </a:solidFill>
                <a:latin typeface="Malgun Gothic"/>
                <a:ea typeface="Malgun Gothic"/>
                <a:cs typeface="Malgun Gothic"/>
                <a:sym typeface="Malgun Gothic"/>
              </a:rPr>
              <a:t>Backend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8183880" y="2542032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E8E8E8"/>
                </a:solidFill>
                <a:latin typeface="Malgun Gothic"/>
                <a:ea typeface="Malgun Gothic"/>
                <a:cs typeface="Malgun Gothic"/>
                <a:sym typeface="Malgun Gothic"/>
              </a:rPr>
              <a:t>Spring Boot 3.5 · MyBatis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8183880" y="3154680"/>
            <a:ext cx="3200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FF6B00"/>
                </a:solidFill>
                <a:latin typeface="Malgun Gothic"/>
                <a:ea typeface="Malgun Gothic"/>
                <a:cs typeface="Malgun Gothic"/>
                <a:sym typeface="Malgun Gothic"/>
              </a:rPr>
              <a:t>Database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8183880" y="3410712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E8E8E8"/>
                </a:solidFill>
                <a:latin typeface="Malgun Gothic"/>
                <a:ea typeface="Malgun Gothic"/>
                <a:cs typeface="Malgun Gothic"/>
                <a:sym typeface="Malgun Gothic"/>
              </a:rPr>
              <a:t>PostgreSQL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8183880" y="4023360"/>
            <a:ext cx="3200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FF6B00"/>
                </a:solidFill>
                <a:latin typeface="Malgun Gothic"/>
                <a:ea typeface="Malgun Gothic"/>
                <a:cs typeface="Malgun Gothic"/>
                <a:sym typeface="Malgun Gothic"/>
              </a:rPr>
              <a:t>ML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8183880" y="4279392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E8E8E8"/>
                </a:solidFill>
                <a:latin typeface="Malgun Gothic"/>
                <a:ea typeface="Malgun Gothic"/>
                <a:cs typeface="Malgun Gothic"/>
                <a:sym typeface="Malgun Gothic"/>
              </a:rPr>
              <a:t>XGBoost · SHAP · FastAPI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8183880" y="4892040"/>
            <a:ext cx="3200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FF6B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8183880" y="5148072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E8E8E8"/>
                </a:solidFill>
                <a:latin typeface="Malgun Gothic"/>
                <a:ea typeface="Malgun Gothic"/>
                <a:cs typeface="Malgun Gothic"/>
                <a:sym typeface="Malgun Gothic"/>
              </a:rPr>
              <a:t>Anthropic Java SDK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822960" y="1298448"/>
            <a:ext cx="146304" cy="146304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1078992" y="1225296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FF6B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팀 프로젝트 최종 발표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804672" y="1783080"/>
            <a:ext cx="676656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Malgun Gothic"/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체육관 B2B SaaS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Malgun Gothic"/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플랫폼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841248" y="3840480"/>
            <a:ext cx="6766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Malgun Gothic"/>
              <a:buNone/>
            </a:pPr>
            <a:r>
              <a:rPr b="0" i="0" lang="en-US" sz="1600" u="none" cap="none" strike="noStrik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멀티테넌트 운영 관리 · 회원 이탈 예측 · AI 비서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" name="Google Shape;31;p3"/>
          <p:cNvCxnSpPr/>
          <p:nvPr/>
        </p:nvCxnSpPr>
        <p:spPr>
          <a:xfrm>
            <a:off x="841248" y="4526280"/>
            <a:ext cx="2926080" cy="0"/>
          </a:xfrm>
          <a:prstGeom prst="straightConnector1">
            <a:avLst/>
          </a:prstGeom>
          <a:noFill/>
          <a:ln cap="flat" cmpd="sng" w="12700">
            <a:solidFill>
              <a:srgbClr val="3A3A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3"/>
          <p:cNvSpPr/>
          <p:nvPr/>
        </p:nvSpPr>
        <p:spPr>
          <a:xfrm>
            <a:off x="841248" y="4754880"/>
            <a:ext cx="6766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250"/>
              <a:buFont typeface="Malgun Gothic"/>
              <a:buNone/>
            </a:pPr>
            <a:r>
              <a:rPr b="0" i="0" lang="en-US" sz="1250" u="none" cap="none" strike="noStrike">
                <a:solidFill>
                  <a:srgbClr val="9E9E9E"/>
                </a:solidFill>
                <a:latin typeface="Malgun Gothic"/>
                <a:ea typeface="Malgun Gothic"/>
                <a:cs typeface="Malgun Gothic"/>
                <a:sym typeface="Malgun Gothic"/>
              </a:rPr>
              <a:t>송태현 · 조종현 · 구영주 · 김현서 · 이유빈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841248" y="5102352"/>
            <a:ext cx="6766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6E6E6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2026.06.29 – 2026.08.05   |   요구사항 117건 · 테이블 27개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"/>
          <p:cNvSpPr/>
          <p:nvPr/>
        </p:nvSpPr>
        <p:spPr>
          <a:xfrm>
            <a:off x="566928" y="402336"/>
            <a:ext cx="118872" cy="118872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777240" y="32918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4F00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C84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548640" y="658368"/>
            <a:ext cx="10424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발표 순서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1247120" y="626364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A3A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548640" y="1828800"/>
            <a:ext cx="5358384" cy="896112"/>
          </a:xfrm>
          <a:prstGeom prst="roundRect">
            <a:avLst>
              <a:gd fmla="val 9184" name="adj"/>
            </a:avLst>
          </a:prstGeom>
          <a:solidFill>
            <a:srgbClr val="FAFAF8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786384" y="2011680"/>
            <a:ext cx="5486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FF6B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417320" y="1975104"/>
            <a:ext cx="4297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개요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417320" y="228600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무엇을, 왜 만들었는가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6181344" y="1828800"/>
            <a:ext cx="5358384" cy="896112"/>
          </a:xfrm>
          <a:prstGeom prst="roundRect">
            <a:avLst>
              <a:gd fmla="val 9184" name="adj"/>
            </a:avLst>
          </a:prstGeom>
          <a:solidFill>
            <a:srgbClr val="FAFAF8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6419088" y="2011680"/>
            <a:ext cx="5486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FF6B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7050024" y="1975104"/>
            <a:ext cx="4297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기술 스택 · 아키텍처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7050024" y="228600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3-tier + ML 서비스 + LLM 오케스트레이터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548640" y="2907792"/>
            <a:ext cx="5358384" cy="896112"/>
          </a:xfrm>
          <a:prstGeom prst="roundRect">
            <a:avLst>
              <a:gd fmla="val 9184" name="adj"/>
            </a:avLst>
          </a:prstGeom>
          <a:solidFill>
            <a:srgbClr val="FAFAF8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786384" y="3090672"/>
            <a:ext cx="5486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FF6B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1417320" y="3054096"/>
            <a:ext cx="4297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작업 영역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1417320" y="3364992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팀원 5명이 나눠 맡은 도메인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6181344" y="2907792"/>
            <a:ext cx="5358384" cy="896112"/>
          </a:xfrm>
          <a:prstGeom prst="roundRect">
            <a:avLst>
              <a:gd fmla="val 9184" name="adj"/>
            </a:avLst>
          </a:prstGeom>
          <a:solidFill>
            <a:srgbClr val="FAFAF8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6419088" y="3090672"/>
            <a:ext cx="5486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FF6B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7050024" y="3054096"/>
            <a:ext cx="4297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기능 소개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7050024" y="3364992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계약 · 결제/정산 · 출석 · 이탈 예측 모델 · AI 비서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548640" y="3986784"/>
            <a:ext cx="5358384" cy="896112"/>
          </a:xfrm>
          <a:prstGeom prst="roundRect">
            <a:avLst>
              <a:gd fmla="val 9184" name="adj"/>
            </a:avLst>
          </a:prstGeom>
          <a:solidFill>
            <a:srgbClr val="FAFAF8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786384" y="4169664"/>
            <a:ext cx="5486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FF6B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1417320" y="4133088"/>
            <a:ext cx="4297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테이블 구조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1417320" y="4443984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27개 테이블과 핵심 설계 결정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6181344" y="3986784"/>
            <a:ext cx="5358384" cy="896112"/>
          </a:xfrm>
          <a:prstGeom prst="roundRect">
            <a:avLst>
              <a:gd fmla="val 9184" name="adj"/>
            </a:avLst>
          </a:prstGeom>
          <a:solidFill>
            <a:srgbClr val="FAFAF8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6419088" y="4169664"/>
            <a:ext cx="5486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FF6B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06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7050024" y="4133088"/>
            <a:ext cx="4297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트러블 슈팅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7050024" y="4443984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실제로 부딪힌 문제 3가지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548640" y="5065776"/>
            <a:ext cx="5358384" cy="896112"/>
          </a:xfrm>
          <a:prstGeom prst="roundRect">
            <a:avLst>
              <a:gd fmla="val 9184" name="adj"/>
            </a:avLst>
          </a:prstGeom>
          <a:solidFill>
            <a:srgbClr val="FAFAF8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786384" y="5248656"/>
            <a:ext cx="5486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FF6B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07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1417320" y="5212080"/>
            <a:ext cx="4297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주요 페이지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1417320" y="5522976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역할별 핵심 화면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6181344" y="5065776"/>
            <a:ext cx="5358384" cy="896112"/>
          </a:xfrm>
          <a:prstGeom prst="roundRect">
            <a:avLst>
              <a:gd fmla="val 9184" name="adj"/>
            </a:avLst>
          </a:prstGeom>
          <a:solidFill>
            <a:srgbClr val="FAFAF8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6419088" y="5248656"/>
            <a:ext cx="5486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FF6B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08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7050024" y="5212080"/>
            <a:ext cx="4297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개선안 · 확장 계획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7050024" y="5522976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Phase 2~4 로드맵과 수익 모델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"/>
          <p:cNvSpPr/>
          <p:nvPr/>
        </p:nvSpPr>
        <p:spPr>
          <a:xfrm>
            <a:off x="566928" y="402336"/>
            <a:ext cx="118872" cy="118872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777240" y="32918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4F00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C84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01 · OVERVIEW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548640" y="658368"/>
            <a:ext cx="10424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무엇을 만들었는가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576072" y="1225296"/>
            <a:ext cx="10424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관리자가 여러 체육관에 납품하는 B2B SaaS — 대시보드 · 계약 관리 · AI 비서 3축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11247120" y="626364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A3A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548640" y="1783080"/>
            <a:ext cx="5486400" cy="2286000"/>
          </a:xfrm>
          <a:prstGeom prst="roundRect">
            <a:avLst>
              <a:gd fmla="val 4800" name="adj"/>
            </a:avLst>
          </a:prstGeom>
          <a:solidFill>
            <a:srgbClr val="FAFAF8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822960" y="196596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 정의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822960" y="2331720"/>
            <a:ext cx="49834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200"/>
              <a:buFont typeface="Malgun Gothic"/>
              <a:buChar char="•"/>
            </a:pPr>
            <a:r>
              <a:rPr b="0" i="0" lang="en-US" sz="12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체육관 운영은 계약서·결제·정산·출석·회원 관리가 전부 분리돼 있고 수기로 돌아간다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525252"/>
              </a:buClr>
              <a:buSzPts val="1200"/>
              <a:buFont typeface="Malgun Gothic"/>
              <a:buChar char="•"/>
            </a:pPr>
            <a:r>
              <a:rPr b="0" i="0" lang="en-US" sz="12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회원이 언제 빠져나갈지 알 수 없어 이탈은 사후에만 확인된다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525252"/>
              </a:buClr>
              <a:buSzPts val="1200"/>
              <a:buFont typeface="Malgun Gothic"/>
              <a:buChar char="•"/>
            </a:pPr>
            <a:r>
              <a:rPr b="0" i="0" lang="en-US" sz="12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지점이 늘어날수록 관리자가 매장별 상태를 파악할 방법이 없다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6272784" y="1783080"/>
            <a:ext cx="5349240" cy="2286000"/>
          </a:xfrm>
          <a:prstGeom prst="roundRect">
            <a:avLst>
              <a:gd fmla="val 4800" name="adj"/>
            </a:avLst>
          </a:prstGeom>
          <a:solidFill>
            <a:srgbClr val="171717"/>
          </a:solidFill>
          <a:ln cap="flat" cmpd="sng" w="12700">
            <a:solidFill>
              <a:srgbClr val="17171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6547104" y="196596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FF6B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해결 방식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6547104" y="2331720"/>
            <a:ext cx="48463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200"/>
              <a:buFont typeface="Malgun Gothic"/>
              <a:buChar char="•"/>
            </a:pPr>
            <a:r>
              <a:rPr b="0" i="0" lang="en-US" sz="1200" u="none" cap="none" strike="noStrike">
                <a:solidFill>
                  <a:srgbClr val="E8E8E8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계약을 데이터의 시작점으로 삼아 결제·정산·출석·PT가 하나의 흐름으로 연결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E8E8E8"/>
              </a:buClr>
              <a:buSzPts val="1200"/>
              <a:buFont typeface="Malgun Gothic"/>
              <a:buChar char="•"/>
            </a:pPr>
            <a:r>
              <a:rPr b="0" i="0" lang="en-US" sz="1200" u="none" cap="none" strike="noStrike">
                <a:solidFill>
                  <a:srgbClr val="E8E8E8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출석·설문·건의 데이터를 피처로 XGBoost 이탈 예측 + SHAP 요인 제시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E8E8E8"/>
              </a:buClr>
              <a:buSzPts val="1200"/>
              <a:buFont typeface="Malgun Gothic"/>
              <a:buChar char="•"/>
            </a:pPr>
            <a:r>
              <a:rPr b="0" i="0" lang="en-US" sz="1200" u="none" cap="none" strike="noStrike">
                <a:solidFill>
                  <a:srgbClr val="E8E8E8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사장님이 자연어로 지점 데이터를 조회하는 AI 비서(Tool Use)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548640" y="4315968"/>
            <a:ext cx="11073384" cy="1691640"/>
          </a:xfrm>
          <a:prstGeom prst="roundRect">
            <a:avLst>
              <a:gd fmla="val 6486" name="adj"/>
            </a:avLst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868680" y="4526280"/>
            <a:ext cx="1737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3800"/>
              <a:buFont typeface="Malgun Gothic"/>
              <a:buNone/>
            </a:pPr>
            <a:r>
              <a:rPr b="1" i="0" lang="en-US" sz="38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117건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896112" y="516636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정의된 요구사항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2688336" y="4526280"/>
            <a:ext cx="1737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3800"/>
              <a:buFont typeface="Malgun Gothic"/>
              <a:buNone/>
            </a:pPr>
            <a:r>
              <a:rPr b="1" i="0" lang="en-US" sz="3800" u="none" cap="none" strike="noStrike">
                <a:solidFill>
                  <a:srgbClr val="FF6B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100건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2715768" y="516636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완료 (85.5%)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" name="Google Shape;96;p5"/>
          <p:cNvCxnSpPr/>
          <p:nvPr/>
        </p:nvCxnSpPr>
        <p:spPr>
          <a:xfrm>
            <a:off x="2569464" y="4617720"/>
            <a:ext cx="0" cy="1005840"/>
          </a:xfrm>
          <a:prstGeom prst="straightConnector1">
            <a:avLst/>
          </a:prstGeom>
          <a:noFill/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5"/>
          <p:cNvSpPr/>
          <p:nvPr/>
        </p:nvSpPr>
        <p:spPr>
          <a:xfrm>
            <a:off x="4507992" y="4526280"/>
            <a:ext cx="1737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3800"/>
              <a:buFont typeface="Malgun Gothic"/>
              <a:buNone/>
            </a:pPr>
            <a:r>
              <a:rPr b="1" i="0" lang="en-US" sz="38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27개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4535424" y="516636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DB 테이블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" name="Google Shape;99;p5"/>
          <p:cNvCxnSpPr/>
          <p:nvPr/>
        </p:nvCxnSpPr>
        <p:spPr>
          <a:xfrm>
            <a:off x="4389120" y="4617720"/>
            <a:ext cx="0" cy="1005840"/>
          </a:xfrm>
          <a:prstGeom prst="straightConnector1">
            <a:avLst/>
          </a:prstGeom>
          <a:noFill/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" name="Google Shape;100;p5"/>
          <p:cNvSpPr/>
          <p:nvPr/>
        </p:nvSpPr>
        <p:spPr>
          <a:xfrm>
            <a:off x="6327648" y="4526280"/>
            <a:ext cx="1737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3800"/>
              <a:buFont typeface="Malgun Gothic"/>
              <a:buNone/>
            </a:pPr>
            <a:r>
              <a:rPr b="1" i="0" lang="en-US" sz="38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19개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6355080" y="516636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백엔드 도메인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5"/>
          <p:cNvCxnSpPr/>
          <p:nvPr/>
        </p:nvCxnSpPr>
        <p:spPr>
          <a:xfrm>
            <a:off x="6208776" y="4617720"/>
            <a:ext cx="0" cy="1005840"/>
          </a:xfrm>
          <a:prstGeom prst="straightConnector1">
            <a:avLst/>
          </a:prstGeom>
          <a:noFill/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5"/>
          <p:cNvSpPr/>
          <p:nvPr/>
        </p:nvSpPr>
        <p:spPr>
          <a:xfrm>
            <a:off x="8147304" y="4526280"/>
            <a:ext cx="1737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3800"/>
              <a:buFont typeface="Malgun Gothic"/>
              <a:buNone/>
            </a:pPr>
            <a:r>
              <a:rPr b="1" i="0" lang="en-US" sz="38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5주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8174736" y="516636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기간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" name="Google Shape;105;p5"/>
          <p:cNvCxnSpPr/>
          <p:nvPr/>
        </p:nvCxnSpPr>
        <p:spPr>
          <a:xfrm>
            <a:off x="8028432" y="4617720"/>
            <a:ext cx="0" cy="1005840"/>
          </a:xfrm>
          <a:prstGeom prst="straightConnector1">
            <a:avLst/>
          </a:prstGeom>
          <a:noFill/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" name="Google Shape;106;p5"/>
          <p:cNvSpPr/>
          <p:nvPr/>
        </p:nvSpPr>
        <p:spPr>
          <a:xfrm>
            <a:off x="9966960" y="4526280"/>
            <a:ext cx="1737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3800"/>
              <a:buFont typeface="Malgun Gothic"/>
              <a:buNone/>
            </a:pPr>
            <a:r>
              <a:rPr b="1" i="0" lang="en-US" sz="38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5명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9994392" y="516636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팀 구성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8" name="Google Shape;108;p5"/>
          <p:cNvCxnSpPr/>
          <p:nvPr/>
        </p:nvCxnSpPr>
        <p:spPr>
          <a:xfrm>
            <a:off x="9848088" y="4617720"/>
            <a:ext cx="0" cy="1005840"/>
          </a:xfrm>
          <a:prstGeom prst="straightConnector1">
            <a:avLst/>
          </a:prstGeom>
          <a:noFill/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/>
          <p:nvPr/>
        </p:nvSpPr>
        <p:spPr>
          <a:xfrm>
            <a:off x="566928" y="402336"/>
            <a:ext cx="118872" cy="118872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777240" y="32918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4F00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C84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01 · DOMAIN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548640" y="658368"/>
            <a:ext cx="10424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역할 계층과 테넌트 격리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576072" y="1225296"/>
            <a:ext cx="10424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모든 권한·데이터 범위는 이 4계층에서 파생된다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11247120" y="626364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A3A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548640" y="1783080"/>
            <a:ext cx="2670048" cy="2743200"/>
          </a:xfrm>
          <a:prstGeom prst="roundRect">
            <a:avLst>
              <a:gd fmla="val 4110" name="adj"/>
            </a:avLst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548640" y="1783080"/>
            <a:ext cx="2670048" cy="713232"/>
          </a:xfrm>
          <a:prstGeom prst="roundRect">
            <a:avLst>
              <a:gd fmla="val 15385" name="adj"/>
            </a:avLst>
          </a:prstGeom>
          <a:solidFill>
            <a:srgbClr val="171717"/>
          </a:solidFill>
          <a:ln cap="flat" cmpd="sng" w="12700">
            <a:solidFill>
              <a:srgbClr val="1717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548640" y="2286000"/>
            <a:ext cx="2670048" cy="210312"/>
          </a:xfrm>
          <a:prstGeom prst="rect">
            <a:avLst/>
          </a:prstGeom>
          <a:solidFill>
            <a:srgbClr val="171717"/>
          </a:solidFill>
          <a:ln cap="flat" cmpd="sng" w="12700">
            <a:solidFill>
              <a:srgbClr val="1717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786384" y="1847088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ADMIN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786384" y="2084832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Malgun Gothic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관리자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786384" y="2697480"/>
            <a:ext cx="221284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826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플랫폼 운영사. 제휴 계약(1) 발행,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7826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커미션 정산, 구직 트레이너 소개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786384" y="3913632"/>
            <a:ext cx="2212848" cy="310896"/>
          </a:xfrm>
          <a:prstGeom prst="roundRect">
            <a:avLst>
              <a:gd fmla="val 50000" name="adj"/>
            </a:avLst>
          </a:prstGeom>
          <a:solidFill>
            <a:srgbClr val="F5F5F5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786384" y="3913632"/>
            <a:ext cx="22128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소속 지점 없음 · 전역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3182112" y="292608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Malgun Gothic"/>
                <a:ea typeface="Malgun Gothic"/>
                <a:cs typeface="Malgun Gothic"/>
                <a:sym typeface="Malgun Gothic"/>
              </a:rPr>
              <a:t>▶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3392424" y="1783080"/>
            <a:ext cx="2670048" cy="2743200"/>
          </a:xfrm>
          <a:prstGeom prst="roundRect">
            <a:avLst>
              <a:gd fmla="val 4110" name="adj"/>
            </a:avLst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3392424" y="1783080"/>
            <a:ext cx="2670048" cy="713232"/>
          </a:xfrm>
          <a:prstGeom prst="roundRect">
            <a:avLst>
              <a:gd fmla="val 15385" name="adj"/>
            </a:avLst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3392424" y="2286000"/>
            <a:ext cx="2670048" cy="210312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3630168" y="1847088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OWNER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3630168" y="2084832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Malgun Gothic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사장님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3630168" y="2697480"/>
            <a:ext cx="221284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826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지점 운영 주체. 임금·이용권·PT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7826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계약 발행, 결제 확정, 지출 관리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3630168" y="3913632"/>
            <a:ext cx="2212848" cy="310896"/>
          </a:xfrm>
          <a:prstGeom prst="roundRect">
            <a:avLst>
              <a:gd fmla="val 50000" name="adj"/>
            </a:avLst>
          </a:prstGeom>
          <a:solidFill>
            <a:srgbClr val="F5F5F5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3630168" y="3913632"/>
            <a:ext cx="22128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소속 지점 1개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6025896" y="292608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Malgun Gothic"/>
                <a:ea typeface="Malgun Gothic"/>
                <a:cs typeface="Malgun Gothic"/>
                <a:sym typeface="Malgun Gothic"/>
              </a:rPr>
              <a:t>▶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6236208" y="1783080"/>
            <a:ext cx="2670048" cy="2743200"/>
          </a:xfrm>
          <a:prstGeom prst="roundRect">
            <a:avLst>
              <a:gd fmla="val 4110" name="adj"/>
            </a:avLst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6236208" y="1783080"/>
            <a:ext cx="2670048" cy="713232"/>
          </a:xfrm>
          <a:prstGeom prst="roundRect">
            <a:avLst>
              <a:gd fmla="val 15385" name="adj"/>
            </a:avLst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6236208" y="2286000"/>
            <a:ext cx="2670048" cy="210312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6473952" y="1847088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TRAINER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6473952" y="2084832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Malgun Gothic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트레이너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6473952" y="2697480"/>
            <a:ext cx="221284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826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담당 PT 회원 관리, 출석 확인,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7826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수업 일정 등록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6473952" y="3913632"/>
            <a:ext cx="2212848" cy="310896"/>
          </a:xfrm>
          <a:prstGeom prst="roundRect">
            <a:avLst>
              <a:gd fmla="val 50000" name="adj"/>
            </a:avLst>
          </a:prstGeom>
          <a:solidFill>
            <a:srgbClr val="F5F5F5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6473952" y="3913632"/>
            <a:ext cx="22128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소속 지점 · 담당 회원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8869680" y="292608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Malgun Gothic"/>
                <a:ea typeface="Malgun Gothic"/>
                <a:cs typeface="Malgun Gothic"/>
                <a:sym typeface="Malgun Gothic"/>
              </a:rPr>
              <a:t>▶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9079992" y="1783080"/>
            <a:ext cx="2670048" cy="2743200"/>
          </a:xfrm>
          <a:prstGeom prst="roundRect">
            <a:avLst>
              <a:gd fmla="val 4110" name="adj"/>
            </a:avLst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9079992" y="1783080"/>
            <a:ext cx="2670048" cy="713232"/>
          </a:xfrm>
          <a:prstGeom prst="roundRect">
            <a:avLst>
              <a:gd fmla="val 15385" name="adj"/>
            </a:avLst>
          </a:prstGeom>
          <a:solidFill>
            <a:srgbClr val="4D7C0F"/>
          </a:solidFill>
          <a:ln cap="flat" cmpd="sng" w="12700">
            <a:solidFill>
              <a:srgbClr val="4D7C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9079992" y="2286000"/>
            <a:ext cx="2670048" cy="210312"/>
          </a:xfrm>
          <a:prstGeom prst="rect">
            <a:avLst/>
          </a:prstGeom>
          <a:solidFill>
            <a:srgbClr val="4D7C0F"/>
          </a:solidFill>
          <a:ln cap="flat" cmpd="sng" w="12700">
            <a:solidFill>
              <a:srgbClr val="4D7C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9317736" y="1847088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MEMBER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9317736" y="2084832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Malgun Gothic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회원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9317736" y="2697480"/>
            <a:ext cx="221284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826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출석·멤버십·쿠폰·설문·건의.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7826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B2C 모바일 포털 이용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9317736" y="3913632"/>
            <a:ext cx="2212848" cy="310896"/>
          </a:xfrm>
          <a:prstGeom prst="roundRect">
            <a:avLst>
              <a:gd fmla="val 50000" name="adj"/>
            </a:avLst>
          </a:prstGeom>
          <a:solidFill>
            <a:srgbClr val="F5F5F5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9317736" y="3913632"/>
            <a:ext cx="22128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본인 데이터만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548640" y="4754880"/>
            <a:ext cx="11073384" cy="1207008"/>
          </a:xfrm>
          <a:prstGeom prst="roundRect">
            <a:avLst>
              <a:gd fmla="val 9091" name="adj"/>
            </a:avLst>
          </a:prstGeom>
          <a:solidFill>
            <a:srgbClr val="FFF0E8"/>
          </a:solidFill>
          <a:ln cap="flat" cmpd="sng" w="12700">
            <a:solidFill>
              <a:srgbClr val="FFE4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841248" y="49194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4F00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C84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테넌트 격리 원칙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841248" y="5230368"/>
            <a:ext cx="10515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클라이언트가 보낸 지점 정보는 신뢰하지 않는다. 서버가 JWT의 사용자 정보로 소속 지점을 다시 조회해 강제 주입하고, 확인되지 않으면 -1로 차단해 결과를 빈 목록으로 만든다. 이 규칙은 로스터·정산·출석·AI 비서 전 구간에 동일하게 적용된다.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"/>
          <p:cNvSpPr/>
          <p:nvPr/>
        </p:nvSpPr>
        <p:spPr>
          <a:xfrm>
            <a:off x="566928" y="402336"/>
            <a:ext cx="118872" cy="118872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777240" y="32918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4F00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C84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02 · TECH STACK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548640" y="658368"/>
            <a:ext cx="10424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기술 스택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576072" y="1225296"/>
            <a:ext cx="10424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3개 저장소 — healthcareFront · healthcareBack · healthModel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11247120" y="626364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A3A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548640" y="1783080"/>
            <a:ext cx="3575304" cy="3703320"/>
          </a:xfrm>
          <a:prstGeom prst="roundRect">
            <a:avLst>
              <a:gd fmla="val 3069" name="adj"/>
            </a:avLst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804672" y="2029968"/>
            <a:ext cx="310896" cy="310896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1207008" y="2011680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0284C7"/>
                </a:solidFill>
                <a:latin typeface="Malgun Gothic"/>
                <a:ea typeface="Malgun Gothic"/>
                <a:cs typeface="Malgun Gothic"/>
                <a:sym typeface="Malgun Gothic"/>
              </a:rPr>
              <a:t>FRONTEND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813816" y="2432304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A3A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healthcareFront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822960" y="2798064"/>
            <a:ext cx="3072384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50"/>
              <a:buFont typeface="Malgun Gothic"/>
              <a:buChar char="•"/>
            </a:pPr>
            <a:r>
              <a:rPr b="0" i="0" lang="en-US" sz="11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React 19.2 · Vite 8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525252"/>
              </a:buClr>
              <a:buSzPts val="1150"/>
              <a:buFont typeface="Malgun Gothic"/>
              <a:buChar char="•"/>
            </a:pPr>
            <a:r>
              <a:rPr b="0" i="0" lang="en-US" sz="11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React Router 7 (역할별 /fitb · /fitc)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525252"/>
              </a:buClr>
              <a:buSzPts val="1150"/>
              <a:buFont typeface="Malgun Gothic"/>
              <a:buChar char="•"/>
            </a:pPr>
            <a:r>
              <a:rPr b="0" i="0" lang="en-US" sz="11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상태관리 라이브러리 없이 훅 기반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525252"/>
              </a:buClr>
              <a:buSzPts val="1150"/>
              <a:buFont typeface="Malgun Gothic"/>
              <a:buChar char="•"/>
            </a:pPr>
            <a:r>
              <a:rPr b="0" i="0" lang="en-US" sz="11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fetch + VITE_BACKEND_URL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525252"/>
              </a:buClr>
              <a:buSzPts val="1150"/>
              <a:buFont typeface="Malgun Gothic"/>
              <a:buChar char="•"/>
            </a:pPr>
            <a:r>
              <a:rPr b="0" i="0" lang="en-US" sz="11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CSS 변수 디자인 토큰 (Pretendard)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525252"/>
              </a:buClr>
              <a:buSzPts val="1150"/>
              <a:buFont typeface="Malgun Gothic"/>
              <a:buChar char="•"/>
            </a:pPr>
            <a:r>
              <a:rPr b="0" i="0" lang="en-US" sz="11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EventSource(SSE) 실시간 알림 수신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4343400" y="1783080"/>
            <a:ext cx="3575304" cy="3703320"/>
          </a:xfrm>
          <a:prstGeom prst="roundRect">
            <a:avLst>
              <a:gd fmla="val 3069" name="adj"/>
            </a:avLst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4599432" y="2029968"/>
            <a:ext cx="310896" cy="310896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5001768" y="2011680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FF6B00"/>
                </a:solidFill>
                <a:latin typeface="Malgun Gothic"/>
                <a:ea typeface="Malgun Gothic"/>
                <a:cs typeface="Malgun Gothic"/>
                <a:sym typeface="Malgun Gothic"/>
              </a:rPr>
              <a:t>BACKEND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4608576" y="2432304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A3A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healthcareBack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4617720" y="2798064"/>
            <a:ext cx="3072384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50"/>
              <a:buFont typeface="Malgun Gothic"/>
              <a:buChar char="•"/>
            </a:pPr>
            <a:r>
              <a:rPr b="0" i="0" lang="en-US" sz="11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Spring Boot 3.5.16 · Java 21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525252"/>
              </a:buClr>
              <a:buSzPts val="1150"/>
              <a:buFont typeface="Malgun Gothic"/>
              <a:buChar char="•"/>
            </a:pPr>
            <a:r>
              <a:rPr b="0" i="0" lang="en-US" sz="11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MyBatis 3.0.4 (Mapper XML 기반 SQL)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525252"/>
              </a:buClr>
              <a:buSzPts val="1150"/>
              <a:buFont typeface="Malgun Gothic"/>
              <a:buChar char="•"/>
            </a:pPr>
            <a:r>
              <a:rPr b="0" i="0" lang="en-US" sz="11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PostgreSQL (Supabase 호스팅)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525252"/>
              </a:buClr>
              <a:buSzPts val="1150"/>
              <a:buFont typeface="Malgun Gothic"/>
              <a:buChar char="•"/>
            </a:pPr>
            <a:r>
              <a:rPr b="0" i="0" lang="en-US" sz="11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JWT(jjwt 0.11.5) + Refresh Token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525252"/>
              </a:buClr>
              <a:buSzPts val="1150"/>
              <a:buFont typeface="Malgun Gothic"/>
              <a:buChar char="•"/>
            </a:pPr>
            <a:r>
              <a:rPr b="0" i="0" lang="en-US" sz="11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Spring Security PasswordEncoder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525252"/>
              </a:buClr>
              <a:buSzPts val="1150"/>
              <a:buFont typeface="Malgun Gothic"/>
              <a:buChar char="•"/>
            </a:pPr>
            <a:r>
              <a:rPr b="0" i="0" lang="en-US" sz="11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SSE Emitter · @Scheduled 배치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8138160" y="1783080"/>
            <a:ext cx="3575304" cy="3703320"/>
          </a:xfrm>
          <a:prstGeom prst="roundRect">
            <a:avLst>
              <a:gd fmla="val 3069" name="adj"/>
            </a:avLst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8394192" y="2029968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8796528" y="2011680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7C3AED"/>
                </a:solidFill>
                <a:latin typeface="Malgun Gothic"/>
                <a:ea typeface="Malgun Gothic"/>
                <a:cs typeface="Malgun Gothic"/>
                <a:sym typeface="Malgun Gothic"/>
              </a:rPr>
              <a:t>ML &amp; AI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8403336" y="2432304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A3A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healthModel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8412480" y="2798064"/>
            <a:ext cx="3072384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50"/>
              <a:buFont typeface="Malgun Gothic"/>
              <a:buChar char="•"/>
            </a:pPr>
            <a:r>
              <a:rPr b="0" i="0" lang="en-US" sz="11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XGBoost 2.x — 이탈 확률 예측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525252"/>
              </a:buClr>
              <a:buSzPts val="1150"/>
              <a:buFont typeface="Malgun Gothic"/>
              <a:buChar char="•"/>
            </a:pPr>
            <a:r>
              <a:rPr b="0" i="0" lang="en-US" sz="11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SHAP — 상위 이탈 요인 추출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525252"/>
              </a:buClr>
              <a:buSzPts val="1150"/>
              <a:buFont typeface="Malgun Gothic"/>
              <a:buChar char="•"/>
            </a:pPr>
            <a:r>
              <a:rPr b="0" i="0" lang="en-US" sz="11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FastAPI + Uvicorn 서빙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525252"/>
              </a:buClr>
              <a:buSzPts val="1150"/>
              <a:buFont typeface="Malgun Gothic"/>
              <a:buChar char="•"/>
            </a:pPr>
            <a:r>
              <a:rPr b="0" i="0" lang="en-US" sz="11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joblib 번들 모델 로딩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525252"/>
              </a:buClr>
              <a:buSzPts val="1150"/>
              <a:buFont typeface="Malgun Gothic"/>
              <a:buChar char="•"/>
            </a:pPr>
            <a:r>
              <a:rPr b="0" i="0" lang="en-US" sz="11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psycopg3로 PostgreSQL 직접 조회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525252"/>
              </a:buClr>
              <a:buSzPts val="1150"/>
              <a:buFont typeface="Malgun Gothic"/>
              <a:buChar char="•"/>
            </a:pPr>
            <a:r>
              <a:rPr b="0" i="0" lang="en-US" sz="11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Anthropic Java SDK 2.34 (Tool Use)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548640" y="5623560"/>
            <a:ext cx="11073384" cy="658368"/>
          </a:xfrm>
          <a:prstGeom prst="roundRect">
            <a:avLst>
              <a:gd fmla="val 13889" name="adj"/>
            </a:avLst>
          </a:prstGeom>
          <a:solidFill>
            <a:srgbClr val="FAFAF8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841248" y="5623560"/>
            <a:ext cx="10515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협업 · 도구   </a:t>
            </a:r>
            <a:r>
              <a:rPr b="0" i="0" lang="en-US" sz="11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GitHub (개인 fork → sub 브랜치 → PR 54회 머지) · Gradle · ESLint · JUnit 5 · Streamlit(모델 검증) · Excel 산출물(요구사항·테이블 정의서·일정표)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"/>
          <p:cNvSpPr/>
          <p:nvPr/>
        </p:nvSpPr>
        <p:spPr>
          <a:xfrm>
            <a:off x="566928" y="402336"/>
            <a:ext cx="118872" cy="118872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777240" y="32918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4F00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C84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02 · ARCHITECTURE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548640" y="658368"/>
            <a:ext cx="10424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아키텍처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576072" y="1225296"/>
            <a:ext cx="10424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웹 계층 · 애플리케이션 계층 · 데이터 계층 + 분리된 ML 서비스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11247120" y="626364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A3A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06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548640" y="1828800"/>
            <a:ext cx="2651760" cy="3108960"/>
          </a:xfrm>
          <a:prstGeom prst="roundRect">
            <a:avLst>
              <a:gd fmla="val 4138" name="adj"/>
            </a:avLst>
          </a:prstGeom>
          <a:solidFill>
            <a:srgbClr val="FAFAF8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786384" y="1975104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CLIENT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749808" y="2304288"/>
            <a:ext cx="2249424" cy="713232"/>
          </a:xfrm>
          <a:prstGeom prst="roundRect">
            <a:avLst>
              <a:gd fmla="val 11538" name="adj"/>
            </a:avLst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896112" y="2450592"/>
            <a:ext cx="128016" cy="128016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1097280" y="23774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/fitb  B2B 관리 포털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905256" y="2670048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PC · LNB 셸 · 드로어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749808" y="3163824"/>
            <a:ext cx="2249424" cy="713232"/>
          </a:xfrm>
          <a:prstGeom prst="roundRect">
            <a:avLst>
              <a:gd fmla="val 11538" name="adj"/>
            </a:avLst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"/>
          <p:cNvSpPr/>
          <p:nvPr/>
        </p:nvSpPr>
        <p:spPr>
          <a:xfrm>
            <a:off x="896112" y="3310128"/>
            <a:ext cx="128016" cy="128016"/>
          </a:xfrm>
          <a:prstGeom prst="ellipse">
            <a:avLst/>
          </a:prstGeom>
          <a:solidFill>
            <a:srgbClr val="4D7C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1097280" y="3236976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/fitc  B2C 회원 포털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905256" y="3529584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모바일 · 하단 탭바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749808" y="4023360"/>
            <a:ext cx="2249424" cy="713232"/>
          </a:xfrm>
          <a:prstGeom prst="roundRect">
            <a:avLst>
              <a:gd fmla="val 11538" name="adj"/>
            </a:avLst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896112" y="4169664"/>
            <a:ext cx="128016" cy="128016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1097280" y="409651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/fitc/attendance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905256" y="438912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무로그인 출석 키오스크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3529584" y="1828800"/>
            <a:ext cx="4297680" cy="3108960"/>
          </a:xfrm>
          <a:prstGeom prst="roundRect">
            <a:avLst>
              <a:gd fmla="val 3529" name="adj"/>
            </a:avLst>
          </a:prstGeom>
          <a:solidFill>
            <a:srgbClr val="171717"/>
          </a:solidFill>
          <a:ln cap="flat" cmpd="sng" w="12700">
            <a:solidFill>
              <a:srgbClr val="17171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"/>
          <p:cNvSpPr/>
          <p:nvPr/>
        </p:nvSpPr>
        <p:spPr>
          <a:xfrm>
            <a:off x="3767328" y="197510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FF6B00"/>
                </a:solidFill>
                <a:latin typeface="Malgun Gothic"/>
                <a:ea typeface="Malgun Gothic"/>
                <a:cs typeface="Malgun Gothic"/>
                <a:sym typeface="Malgun Gothic"/>
              </a:rPr>
              <a:t>SPRING BOOT  ·  APPLICATION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3749040" y="2304288"/>
            <a:ext cx="1225296" cy="384048"/>
          </a:xfrm>
          <a:prstGeom prst="roundRect">
            <a:avLst>
              <a:gd fmla="val 19048" name="adj"/>
            </a:avLst>
          </a:prstGeom>
          <a:solidFill>
            <a:srgbClr val="2A2A2A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3749040" y="2304288"/>
            <a:ext cx="12252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E0E0E0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contract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5065776" y="2304288"/>
            <a:ext cx="1225296" cy="384048"/>
          </a:xfrm>
          <a:prstGeom prst="roundRect">
            <a:avLst>
              <a:gd fmla="val 19048" name="adj"/>
            </a:avLst>
          </a:prstGeom>
          <a:solidFill>
            <a:srgbClr val="2A2A2A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"/>
          <p:cNvSpPr/>
          <p:nvPr/>
        </p:nvSpPr>
        <p:spPr>
          <a:xfrm>
            <a:off x="5065776" y="2304288"/>
            <a:ext cx="12252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E0E0E0"/>
                </a:solidFill>
                <a:latin typeface="Malgun Gothic"/>
                <a:ea typeface="Malgun Gothic"/>
                <a:cs typeface="Malgun Gothic"/>
                <a:sym typeface="Malgun Gothic"/>
              </a:rPr>
              <a:t>payment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6382512" y="2304288"/>
            <a:ext cx="1225296" cy="384048"/>
          </a:xfrm>
          <a:prstGeom prst="roundRect">
            <a:avLst>
              <a:gd fmla="val 19048" name="adj"/>
            </a:avLst>
          </a:prstGeom>
          <a:solidFill>
            <a:srgbClr val="2A2A2A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6382512" y="2304288"/>
            <a:ext cx="12252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E0E0E0"/>
                </a:solidFill>
                <a:latin typeface="Malgun Gothic"/>
                <a:ea typeface="Malgun Gothic"/>
                <a:cs typeface="Malgun Gothic"/>
                <a:sym typeface="Malgun Gothic"/>
              </a:rPr>
              <a:t>settle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3749040" y="2779776"/>
            <a:ext cx="1225296" cy="384048"/>
          </a:xfrm>
          <a:prstGeom prst="roundRect">
            <a:avLst>
              <a:gd fmla="val 19048" name="adj"/>
            </a:avLst>
          </a:prstGeom>
          <a:solidFill>
            <a:srgbClr val="2A2A2A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3749040" y="2779776"/>
            <a:ext cx="12252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E0E0E0"/>
                </a:solidFill>
                <a:latin typeface="Malgun Gothic"/>
                <a:ea typeface="Malgun Gothic"/>
                <a:cs typeface="Malgun Gothic"/>
                <a:sym typeface="Malgun Gothic"/>
              </a:rPr>
              <a:t>item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5065776" y="2779776"/>
            <a:ext cx="1225296" cy="384048"/>
          </a:xfrm>
          <a:prstGeom prst="roundRect">
            <a:avLst>
              <a:gd fmla="val 19048" name="adj"/>
            </a:avLst>
          </a:prstGeom>
          <a:solidFill>
            <a:srgbClr val="2A2A2A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8"/>
          <p:cNvSpPr/>
          <p:nvPr/>
        </p:nvSpPr>
        <p:spPr>
          <a:xfrm>
            <a:off x="5065776" y="2779776"/>
            <a:ext cx="12252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E0E0E0"/>
                </a:solidFill>
                <a:latin typeface="Malgun Gothic"/>
                <a:ea typeface="Malgun Gothic"/>
                <a:cs typeface="Malgun Gothic"/>
                <a:sym typeface="Malgun Gothic"/>
              </a:rPr>
              <a:t>checkInout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6382512" y="2779776"/>
            <a:ext cx="1225296" cy="384048"/>
          </a:xfrm>
          <a:prstGeom prst="roundRect">
            <a:avLst>
              <a:gd fmla="val 19048" name="adj"/>
            </a:avLst>
          </a:prstGeom>
          <a:solidFill>
            <a:srgbClr val="2A2A2A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6382512" y="2779776"/>
            <a:ext cx="12252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E0E0E0"/>
                </a:solidFill>
                <a:latin typeface="Malgun Gothic"/>
                <a:ea typeface="Malgun Gothic"/>
                <a:cs typeface="Malgun Gothic"/>
                <a:sym typeface="Malgun Gothic"/>
              </a:rPr>
              <a:t>coupon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3749040" y="3255264"/>
            <a:ext cx="1225296" cy="384048"/>
          </a:xfrm>
          <a:prstGeom prst="roundRect">
            <a:avLst>
              <a:gd fmla="val 19048" name="adj"/>
            </a:avLst>
          </a:prstGeom>
          <a:solidFill>
            <a:srgbClr val="2A2A2A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3749040" y="3255264"/>
            <a:ext cx="12252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E0E0E0"/>
                </a:solidFill>
                <a:latin typeface="Malgun Gothic"/>
                <a:ea typeface="Malgun Gothic"/>
                <a:cs typeface="Malgun Gothic"/>
                <a:sym typeface="Malgun Gothic"/>
              </a:rPr>
              <a:t>dashboard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5065776" y="3255264"/>
            <a:ext cx="1225296" cy="384048"/>
          </a:xfrm>
          <a:prstGeom prst="roundRect">
            <a:avLst>
              <a:gd fmla="val 19048" name="adj"/>
            </a:avLst>
          </a:prstGeom>
          <a:solidFill>
            <a:srgbClr val="2A2A2A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5065776" y="3255264"/>
            <a:ext cx="12252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E0E0E0"/>
                </a:solidFill>
                <a:latin typeface="Malgun Gothic"/>
                <a:ea typeface="Malgun Gothic"/>
                <a:cs typeface="Malgun Gothic"/>
                <a:sym typeface="Malgun Gothic"/>
              </a:rPr>
              <a:t>alarm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6382512" y="3255264"/>
            <a:ext cx="1225296" cy="384048"/>
          </a:xfrm>
          <a:prstGeom prst="roundRect">
            <a:avLst>
              <a:gd fmla="val 19048" name="adj"/>
            </a:avLst>
          </a:prstGeom>
          <a:solidFill>
            <a:srgbClr val="2A2A2A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"/>
          <p:cNvSpPr/>
          <p:nvPr/>
        </p:nvSpPr>
        <p:spPr>
          <a:xfrm>
            <a:off x="6382512" y="3255264"/>
            <a:ext cx="12252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E0E0E0"/>
                </a:solidFill>
                <a:latin typeface="Malgun Gothic"/>
                <a:ea typeface="Malgun Gothic"/>
                <a:cs typeface="Malgun Gothic"/>
                <a:sym typeface="Malgun Gothic"/>
              </a:rPr>
              <a:t>churn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3749040" y="3730752"/>
            <a:ext cx="1225296" cy="384048"/>
          </a:xfrm>
          <a:prstGeom prst="roundRect">
            <a:avLst>
              <a:gd fmla="val 19048" name="adj"/>
            </a:avLst>
          </a:prstGeom>
          <a:solidFill>
            <a:srgbClr val="2A2A2A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3749040" y="3730752"/>
            <a:ext cx="12252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E0E0E0"/>
                </a:solidFill>
                <a:latin typeface="Malgun Gothic"/>
                <a:ea typeface="Malgun Gothic"/>
                <a:cs typeface="Malgun Gothic"/>
                <a:sym typeface="Malgun Gothic"/>
              </a:rPr>
              <a:t>member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5065776" y="3730752"/>
            <a:ext cx="1225296" cy="384048"/>
          </a:xfrm>
          <a:prstGeom prst="roundRect">
            <a:avLst>
              <a:gd fmla="val 19048" name="adj"/>
            </a:avLst>
          </a:prstGeom>
          <a:solidFill>
            <a:srgbClr val="2A2A2A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"/>
          <p:cNvSpPr/>
          <p:nvPr/>
        </p:nvSpPr>
        <p:spPr>
          <a:xfrm>
            <a:off x="5065776" y="3730752"/>
            <a:ext cx="12252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E0E0E0"/>
                </a:solidFill>
                <a:latin typeface="Malgun Gothic"/>
                <a:ea typeface="Malgun Gothic"/>
                <a:cs typeface="Malgun Gothic"/>
                <a:sym typeface="Malgun Gothic"/>
              </a:rPr>
              <a:t>survey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6382512" y="3730752"/>
            <a:ext cx="1225296" cy="384048"/>
          </a:xfrm>
          <a:prstGeom prst="roundRect">
            <a:avLst>
              <a:gd fmla="val 19048" name="adj"/>
            </a:avLst>
          </a:prstGeom>
          <a:solidFill>
            <a:srgbClr val="C84F00"/>
          </a:solidFill>
          <a:ln cap="flat" cmpd="sng" w="12700">
            <a:solidFill>
              <a:srgbClr val="C84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8"/>
          <p:cNvSpPr/>
          <p:nvPr/>
        </p:nvSpPr>
        <p:spPr>
          <a:xfrm>
            <a:off x="6382512" y="3730752"/>
            <a:ext cx="12252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E0E0E0"/>
                </a:solidFill>
                <a:latin typeface="Malgun Gothic"/>
                <a:ea typeface="Malgun Gothic"/>
                <a:cs typeface="Malgun Gothic"/>
                <a:sym typeface="Malgun Gothic"/>
              </a:rPr>
              <a:t>ai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3749040" y="4315968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9E9E9E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Controller → Service → Mapper(.java) → Mapper.xml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3749040" y="4572000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9E9E9E"/>
                </a:solidFill>
                <a:latin typeface="Malgun Gothic"/>
                <a:ea typeface="Malgun Gothic"/>
                <a:cs typeface="Malgun Gothic"/>
                <a:sym typeface="Malgun Gothic"/>
              </a:rPr>
              <a:t>JWT 수동 인증 · @Transactional · SSE · @Scheduled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8156448" y="1828800"/>
            <a:ext cx="3465576" cy="932688"/>
          </a:xfrm>
          <a:prstGeom prst="roundRect">
            <a:avLst>
              <a:gd fmla="val 9804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8"/>
          <p:cNvSpPr/>
          <p:nvPr/>
        </p:nvSpPr>
        <p:spPr>
          <a:xfrm>
            <a:off x="8394192" y="1956816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PostgreSQL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8403336" y="2231136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27개 테이블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Supabase 호스팅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9" name="Google Shape;239;p8"/>
          <p:cNvCxnSpPr/>
          <p:nvPr/>
        </p:nvCxnSpPr>
        <p:spPr>
          <a:xfrm>
            <a:off x="7827264" y="2286000"/>
            <a:ext cx="329184" cy="0"/>
          </a:xfrm>
          <a:prstGeom prst="straightConnector1">
            <a:avLst/>
          </a:prstGeom>
          <a:noFill/>
          <a:ln cap="flat" cmpd="sng" w="19050">
            <a:solidFill>
              <a:srgbClr val="D4D4D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0" name="Google Shape;240;p8"/>
          <p:cNvSpPr/>
          <p:nvPr/>
        </p:nvSpPr>
        <p:spPr>
          <a:xfrm>
            <a:off x="8156448" y="2916936"/>
            <a:ext cx="3465576" cy="932688"/>
          </a:xfrm>
          <a:prstGeom prst="roundRect">
            <a:avLst>
              <a:gd fmla="val 9804" name="adj"/>
            </a:avLst>
          </a:prstGeom>
          <a:solidFill>
            <a:srgbClr val="F3E8FF"/>
          </a:solidFill>
          <a:ln cap="flat" cmpd="sng" w="12700">
            <a:solidFill>
              <a:srgbClr val="E9D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8"/>
          <p:cNvSpPr/>
          <p:nvPr/>
        </p:nvSpPr>
        <p:spPr>
          <a:xfrm>
            <a:off x="8394192" y="304495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7C3AED"/>
                </a:solidFill>
                <a:latin typeface="Malgun Gothic"/>
                <a:ea typeface="Malgun Gothic"/>
                <a:cs typeface="Malgun Gothic"/>
                <a:sym typeface="Malgun Gothic"/>
              </a:rPr>
              <a:t>FastAPI · healthModel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8403336" y="3319272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XGBoost + SHAP 추론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 1회 배치로 결과 적재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3" name="Google Shape;243;p8"/>
          <p:cNvCxnSpPr/>
          <p:nvPr/>
        </p:nvCxnSpPr>
        <p:spPr>
          <a:xfrm>
            <a:off x="7827264" y="3374136"/>
            <a:ext cx="329184" cy="0"/>
          </a:xfrm>
          <a:prstGeom prst="straightConnector1">
            <a:avLst/>
          </a:prstGeom>
          <a:noFill/>
          <a:ln cap="flat" cmpd="sng" w="19050">
            <a:solidFill>
              <a:srgbClr val="D4D4D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4" name="Google Shape;244;p8"/>
          <p:cNvSpPr/>
          <p:nvPr/>
        </p:nvSpPr>
        <p:spPr>
          <a:xfrm>
            <a:off x="8156448" y="4005072"/>
            <a:ext cx="3465576" cy="932688"/>
          </a:xfrm>
          <a:prstGeom prst="roundRect">
            <a:avLst>
              <a:gd fmla="val 9804" name="adj"/>
            </a:avLst>
          </a:prstGeom>
          <a:solidFill>
            <a:srgbClr val="FFF0E8"/>
          </a:solidFill>
          <a:ln cap="flat" cmpd="sng" w="12700">
            <a:solidFill>
              <a:srgbClr val="FFE4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8"/>
          <p:cNvSpPr/>
          <p:nvPr/>
        </p:nvSpPr>
        <p:spPr>
          <a:xfrm>
            <a:off x="8394192" y="413308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4F00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C84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Anthropic Messages API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8403336" y="4407408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Tool Use 오케스트레이션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claude-sonnet-5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7" name="Google Shape;247;p8"/>
          <p:cNvCxnSpPr/>
          <p:nvPr/>
        </p:nvCxnSpPr>
        <p:spPr>
          <a:xfrm>
            <a:off x="7827264" y="4462272"/>
            <a:ext cx="329184" cy="0"/>
          </a:xfrm>
          <a:prstGeom prst="straightConnector1">
            <a:avLst/>
          </a:prstGeom>
          <a:noFill/>
          <a:ln cap="flat" cmpd="sng" w="19050">
            <a:solidFill>
              <a:srgbClr val="D4D4D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8" name="Google Shape;248;p8"/>
          <p:cNvCxnSpPr/>
          <p:nvPr/>
        </p:nvCxnSpPr>
        <p:spPr>
          <a:xfrm>
            <a:off x="3200400" y="3383280"/>
            <a:ext cx="329184" cy="0"/>
          </a:xfrm>
          <a:prstGeom prst="straightConnector1">
            <a:avLst/>
          </a:prstGeom>
          <a:noFill/>
          <a:ln cap="flat" cmpd="sng" w="19050">
            <a:solidFill>
              <a:srgbClr val="D4D4D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9" name="Google Shape;249;p8"/>
          <p:cNvSpPr/>
          <p:nvPr/>
        </p:nvSpPr>
        <p:spPr>
          <a:xfrm>
            <a:off x="548640" y="5138928"/>
            <a:ext cx="11073384" cy="932688"/>
          </a:xfrm>
          <a:prstGeom prst="roundRect">
            <a:avLst>
              <a:gd fmla="val 9804" name="adj"/>
            </a:avLst>
          </a:prstGeom>
          <a:solidFill>
            <a:srgbClr val="FAFAF8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8"/>
          <p:cNvSpPr/>
          <p:nvPr/>
        </p:nvSpPr>
        <p:spPr>
          <a:xfrm>
            <a:off x="841248" y="5138928"/>
            <a:ext cx="105156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흐름의 한 줄 요약   </a:t>
            </a:r>
            <a:r>
              <a:rPr b="0" i="0" lang="en-US" sz="12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계약 발행 → 서명(미가입자 자동 가입) → 결제(쿠폰 적용) → 계약 ACTIVE + PT 원장 생성 → 출석으로 차감 → 매출/지출이 정산·대시보드에 반영 → 출석·설문 데이터가 이탈 예측 피처로 순환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9"/>
          <p:cNvSpPr/>
          <p:nvPr/>
        </p:nvSpPr>
        <p:spPr>
          <a:xfrm>
            <a:off x="566928" y="402336"/>
            <a:ext cx="118872" cy="118872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9"/>
          <p:cNvSpPr/>
          <p:nvPr/>
        </p:nvSpPr>
        <p:spPr>
          <a:xfrm>
            <a:off x="777240" y="32918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4F00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C84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02 · CONVENTION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548640" y="658368"/>
            <a:ext cx="10424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백엔드 공통 구현 패턴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576072" y="1225296"/>
            <a:ext cx="10424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19개 도메인 전부가 같은 4계층 구조와 4가지 공통 장치를 공유한다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11247120" y="626364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A3A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07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548640" y="1828800"/>
            <a:ext cx="5029200" cy="713232"/>
          </a:xfrm>
          <a:prstGeom prst="roundRect">
            <a:avLst>
              <a:gd fmla="val 12821" name="adj"/>
            </a:avLst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9"/>
          <p:cNvSpPr/>
          <p:nvPr/>
        </p:nvSpPr>
        <p:spPr>
          <a:xfrm>
            <a:off x="768096" y="2002536"/>
            <a:ext cx="365760" cy="365760"/>
          </a:xfrm>
          <a:prstGeom prst="roundRect">
            <a:avLst>
              <a:gd fmla="val 20000" name="adj"/>
            </a:avLst>
          </a:prstGeom>
          <a:solidFill>
            <a:srgbClr val="1717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9"/>
          <p:cNvSpPr/>
          <p:nvPr/>
        </p:nvSpPr>
        <p:spPr>
          <a:xfrm>
            <a:off x="768096" y="200253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1280160" y="192024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Controller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1298448" y="221284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HTTP 수신 · JWT 파싱 · 권한 1차 확인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822960" y="2505456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D4D4D4"/>
                </a:solidFill>
                <a:latin typeface="Malgun Gothic"/>
                <a:ea typeface="Malgun Gothic"/>
                <a:cs typeface="Malgun Gothic"/>
                <a:sym typeface="Malgun Gothic"/>
              </a:rPr>
              <a:t>▼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548640" y="2670048"/>
            <a:ext cx="5029200" cy="713232"/>
          </a:xfrm>
          <a:prstGeom prst="roundRect">
            <a:avLst>
              <a:gd fmla="val 12821" name="adj"/>
            </a:avLst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9"/>
          <p:cNvSpPr/>
          <p:nvPr/>
        </p:nvSpPr>
        <p:spPr>
          <a:xfrm>
            <a:off x="768096" y="2843784"/>
            <a:ext cx="365760" cy="365760"/>
          </a:xfrm>
          <a:prstGeom prst="roundRect">
            <a:avLst>
              <a:gd fmla="val 20000" name="adj"/>
            </a:avLst>
          </a:prstGeom>
          <a:solidFill>
            <a:srgbClr val="1717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9"/>
          <p:cNvSpPr/>
          <p:nvPr/>
        </p:nvSpPr>
        <p:spPr>
          <a:xfrm>
            <a:off x="768096" y="284378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1280160" y="2761488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Service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1298448" y="3054096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비즈니스 로직 · 트랜잭션 · 검증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822960" y="3346704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D4D4D4"/>
                </a:solidFill>
                <a:latin typeface="Malgun Gothic"/>
                <a:ea typeface="Malgun Gothic"/>
                <a:cs typeface="Malgun Gothic"/>
                <a:sym typeface="Malgun Gothic"/>
              </a:rPr>
              <a:t>▼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548640" y="3511296"/>
            <a:ext cx="5029200" cy="713232"/>
          </a:xfrm>
          <a:prstGeom prst="roundRect">
            <a:avLst>
              <a:gd fmla="val 12821" name="adj"/>
            </a:avLst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9"/>
          <p:cNvSpPr/>
          <p:nvPr/>
        </p:nvSpPr>
        <p:spPr>
          <a:xfrm>
            <a:off x="768096" y="3685032"/>
            <a:ext cx="365760" cy="365760"/>
          </a:xfrm>
          <a:prstGeom prst="roundRect">
            <a:avLst>
              <a:gd fmla="val 20000" name="adj"/>
            </a:avLst>
          </a:prstGeom>
          <a:solidFill>
            <a:srgbClr val="1717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9"/>
          <p:cNvSpPr/>
          <p:nvPr/>
        </p:nvSpPr>
        <p:spPr>
          <a:xfrm>
            <a:off x="768096" y="368503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1280160" y="3602736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Mapper (interface)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1298448" y="3895344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메서드 시그니처만 선언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822960" y="4187952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D4D4D4"/>
                </a:solidFill>
                <a:latin typeface="Malgun Gothic"/>
                <a:ea typeface="Malgun Gothic"/>
                <a:cs typeface="Malgun Gothic"/>
                <a:sym typeface="Malgun Gothic"/>
              </a:rPr>
              <a:t>▼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548640" y="4352544"/>
            <a:ext cx="5029200" cy="713232"/>
          </a:xfrm>
          <a:prstGeom prst="roundRect">
            <a:avLst>
              <a:gd fmla="val 12821" name="adj"/>
            </a:avLst>
          </a:prstGeom>
          <a:solidFill>
            <a:srgbClr val="FFF0E8"/>
          </a:solidFill>
          <a:ln cap="flat" cmpd="sng" w="12700">
            <a:solidFill>
              <a:srgbClr val="FFE4D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9"/>
          <p:cNvSpPr/>
          <p:nvPr/>
        </p:nvSpPr>
        <p:spPr>
          <a:xfrm>
            <a:off x="768096" y="4526280"/>
            <a:ext cx="365760" cy="365760"/>
          </a:xfrm>
          <a:prstGeom prst="roundRect">
            <a:avLst>
              <a:gd fmla="val 20000" name="adj"/>
            </a:avLst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9"/>
          <p:cNvSpPr/>
          <p:nvPr/>
        </p:nvSpPr>
        <p:spPr>
          <a:xfrm>
            <a:off x="768096" y="45262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1280160" y="4443984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Mapper.xml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1298448" y="4736592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SQL · 동적 SQL 조립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5852160" y="1828800"/>
            <a:ext cx="5769864" cy="950976"/>
          </a:xfrm>
          <a:prstGeom prst="roundRect">
            <a:avLst>
              <a:gd fmla="val 9615" name="adj"/>
            </a:avLst>
          </a:prstGeom>
          <a:solidFill>
            <a:srgbClr val="EFF6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9"/>
          <p:cNvSpPr/>
          <p:nvPr/>
        </p:nvSpPr>
        <p:spPr>
          <a:xfrm>
            <a:off x="6108192" y="1938528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Pager + PagedResponse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6117336" y="2212848"/>
            <a:ext cx="53492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makeOffset() → 목록 → 건수 → makeBlock() 순서 고정.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getter가 null·음수를 방어해 프론트 값이 없어도 1페이지·10건으로 동작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5852160" y="2907792"/>
            <a:ext cx="5769864" cy="950976"/>
          </a:xfrm>
          <a:prstGeom prst="roundRect">
            <a:avLst>
              <a:gd fmla="val 9615" name="adj"/>
            </a:avLst>
          </a:prstGeom>
          <a:solidFill>
            <a:srgbClr val="EFF6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9"/>
          <p:cNvSpPr/>
          <p:nvPr/>
        </p:nvSpPr>
        <p:spPr>
          <a:xfrm>
            <a:off x="6108192" y="301752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0284C7"/>
                </a:solidFill>
                <a:latin typeface="Malgun Gothic"/>
                <a:ea typeface="Malgun Gothic"/>
                <a:cs typeface="Malgun Gothic"/>
                <a:sym typeface="Malgun Gothic"/>
              </a:rPr>
              <a:t>MyBatis 동적 SQL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9"/>
          <p:cNvSpPr/>
          <p:nvPr/>
        </p:nvSpPr>
        <p:spPr>
          <a:xfrm>
            <a:off x="6117336" y="3291840"/>
            <a:ext cx="53492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&lt;where&gt; &lt;if&gt; &lt;choose&gt;로 조건 조립. 검색어는 #{}로만 바인딩해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PreparedStatement 파라미터로 넘긴다 (SQL 인젝션 차단)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5852160" y="3986784"/>
            <a:ext cx="5769864" cy="950976"/>
          </a:xfrm>
          <a:prstGeom prst="roundRect">
            <a:avLst>
              <a:gd fmla="val 9615" name="adj"/>
            </a:avLst>
          </a:prstGeom>
          <a:solidFill>
            <a:srgbClr val="FFF0E8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9"/>
          <p:cNvSpPr/>
          <p:nvPr/>
        </p:nvSpPr>
        <p:spPr>
          <a:xfrm>
            <a:off x="6108192" y="4096512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4F00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C84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@Transactional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6117336" y="4370832"/>
            <a:ext cx="53492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결제·출석 확인·물품 등록·정산 생성처럼 여러 테이블을 동시에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건드리는 메서드는 전부 묶어 부분 성공을 원천 차단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5852160" y="5065776"/>
            <a:ext cx="5769864" cy="950976"/>
          </a:xfrm>
          <a:prstGeom prst="roundRect">
            <a:avLst>
              <a:gd fmla="val 9615" name="adj"/>
            </a:avLst>
          </a:prstGeom>
          <a:solidFill>
            <a:srgbClr val="F0FDF4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9"/>
          <p:cNvSpPr/>
          <p:nvPr/>
        </p:nvSpPr>
        <p:spPr>
          <a:xfrm>
            <a:off x="6108192" y="5175504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15803D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목록 쿼리 3종 세트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9"/>
          <p:cNvSpPr/>
          <p:nvPr/>
        </p:nvSpPr>
        <p:spPr>
          <a:xfrm>
            <a:off x="6117336" y="5449824"/>
            <a:ext cx="53492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list(페이지) · listCount(총건수) · listAll(CSV)의 where 조건을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완전히 동일하게 유지 → 화면 필터 그대로 CSV가 나온다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0"/>
          <p:cNvSpPr/>
          <p:nvPr/>
        </p:nvSpPr>
        <p:spPr>
          <a:xfrm>
            <a:off x="566928" y="402336"/>
            <a:ext cx="118872" cy="118872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0"/>
          <p:cNvSpPr/>
          <p:nvPr/>
        </p:nvSpPr>
        <p:spPr>
          <a:xfrm>
            <a:off x="777240" y="32918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4F00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C84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03 · OWNERSHIP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548640" y="658368"/>
            <a:ext cx="10424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작업 영역 — 팀 구성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576072" y="1225296"/>
            <a:ext cx="10424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61개 개발 작업을 도메인 단위로 나눠 소유권 충돌 없이 병렬 개발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11247120" y="626364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A3A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08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548640" y="1783080"/>
            <a:ext cx="2670048" cy="3246120"/>
          </a:xfrm>
          <a:prstGeom prst="roundRect">
            <a:avLst>
              <a:gd fmla="val 4110" name="adj"/>
            </a:avLst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0"/>
          <p:cNvSpPr/>
          <p:nvPr/>
        </p:nvSpPr>
        <p:spPr>
          <a:xfrm>
            <a:off x="804672" y="1993392"/>
            <a:ext cx="475488" cy="475488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0"/>
          <p:cNvSpPr/>
          <p:nvPr/>
        </p:nvSpPr>
        <p:spPr>
          <a:xfrm>
            <a:off x="804672" y="199339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1389888" y="201168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구영주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1399032" y="2258568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21개 작업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0"/>
          <p:cNvSpPr/>
          <p:nvPr/>
        </p:nvSpPr>
        <p:spPr>
          <a:xfrm>
            <a:off x="813816" y="2615184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FF6B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계약 · 대시보드 · AI · UI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2" name="Google Shape;312;p10"/>
          <p:cNvCxnSpPr/>
          <p:nvPr/>
        </p:nvCxnSpPr>
        <p:spPr>
          <a:xfrm>
            <a:off x="822960" y="3145536"/>
            <a:ext cx="2121408" cy="0"/>
          </a:xfrm>
          <a:prstGeom prst="straightConnector1">
            <a:avLst/>
          </a:prstGeom>
          <a:noFill/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3" name="Google Shape;313;p10"/>
          <p:cNvSpPr/>
          <p:nvPr/>
        </p:nvSpPr>
        <p:spPr>
          <a:xfrm>
            <a:off x="822960" y="3255264"/>
            <a:ext cx="2139696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Char char="•"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계약 도메인 1~5 전체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Char char="•"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대시보드 설계·구현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Char char="•"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비서 오케스트레이터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Char char="•"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디자인 시스템 · UI 리뉴얼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Char char="•"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QA · 통합 검수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3392424" y="1783080"/>
            <a:ext cx="2670048" cy="3246120"/>
          </a:xfrm>
          <a:prstGeom prst="roundRect">
            <a:avLst>
              <a:gd fmla="val 4110" name="adj"/>
            </a:avLst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0"/>
          <p:cNvSpPr/>
          <p:nvPr/>
        </p:nvSpPr>
        <p:spPr>
          <a:xfrm>
            <a:off x="3648456" y="1993392"/>
            <a:ext cx="475488" cy="475488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0"/>
          <p:cNvSpPr/>
          <p:nvPr/>
        </p:nvSpPr>
        <p:spPr>
          <a:xfrm>
            <a:off x="3648456" y="199339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송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4233672" y="201168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송태현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4242816" y="2258568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16개 작업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0"/>
          <p:cNvSpPr/>
          <p:nvPr/>
        </p:nvSpPr>
        <p:spPr>
          <a:xfrm>
            <a:off x="3657600" y="2615184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0284C7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정산 · 물품 · 결제 · 출석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0" name="Google Shape;320;p10"/>
          <p:cNvCxnSpPr/>
          <p:nvPr/>
        </p:nvCxnSpPr>
        <p:spPr>
          <a:xfrm>
            <a:off x="3666744" y="3145536"/>
            <a:ext cx="2121408" cy="0"/>
          </a:xfrm>
          <a:prstGeom prst="straightConnector1">
            <a:avLst/>
          </a:prstGeom>
          <a:noFill/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1" name="Google Shape;321;p10"/>
          <p:cNvSpPr/>
          <p:nvPr/>
        </p:nvSpPr>
        <p:spPr>
          <a:xfrm>
            <a:off x="3666744" y="3255264"/>
            <a:ext cx="2139696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Char char="•"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정산/커미션 · 지출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Char char="•"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물품(재고·CSV)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Char char="•"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결제-쿠폰 트랜잭션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Char char="•"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출석 키오스크 · PT 원장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Char char="•"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요구사항 정리표 117건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0"/>
          <p:cNvSpPr/>
          <p:nvPr/>
        </p:nvSpPr>
        <p:spPr>
          <a:xfrm>
            <a:off x="6236208" y="1783080"/>
            <a:ext cx="2670048" cy="3246120"/>
          </a:xfrm>
          <a:prstGeom prst="roundRect">
            <a:avLst>
              <a:gd fmla="val 4110" name="adj"/>
            </a:avLst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0"/>
          <p:cNvSpPr/>
          <p:nvPr/>
        </p:nvSpPr>
        <p:spPr>
          <a:xfrm>
            <a:off x="6492240" y="1993392"/>
            <a:ext cx="475488" cy="475488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0"/>
          <p:cNvSpPr/>
          <p:nvPr/>
        </p:nvSpPr>
        <p:spPr>
          <a:xfrm>
            <a:off x="6492240" y="199339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0"/>
          <p:cNvSpPr/>
          <p:nvPr/>
        </p:nvSpPr>
        <p:spPr>
          <a:xfrm>
            <a:off x="7077456" y="201168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조종현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0"/>
          <p:cNvSpPr/>
          <p:nvPr/>
        </p:nvSpPr>
        <p:spPr>
          <a:xfrm>
            <a:off x="7086600" y="2258568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14개 작업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6501384" y="2615184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1580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인증 · 쿠폰 · B2C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8" name="Google Shape;328;p10"/>
          <p:cNvCxnSpPr/>
          <p:nvPr/>
        </p:nvCxnSpPr>
        <p:spPr>
          <a:xfrm>
            <a:off x="6510528" y="3145536"/>
            <a:ext cx="2121408" cy="0"/>
          </a:xfrm>
          <a:prstGeom prst="straightConnector1">
            <a:avLst/>
          </a:prstGeom>
          <a:noFill/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9" name="Google Shape;329;p10"/>
          <p:cNvSpPr/>
          <p:nvPr/>
        </p:nvSpPr>
        <p:spPr>
          <a:xfrm>
            <a:off x="6510528" y="3255264"/>
            <a:ext cx="2139696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Char char="•"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회원가입 · 로그인 · JWT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Char char="•"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Refresh Token · 암호화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Char char="•"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쿠폰 발급 · 중복 방지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Char char="•"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B2C 마이페이지 · 아바타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Char char="•"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초기 골격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9079992" y="1783080"/>
            <a:ext cx="2670048" cy="3246120"/>
          </a:xfrm>
          <a:prstGeom prst="roundRect">
            <a:avLst>
              <a:gd fmla="val 4110" name="adj"/>
            </a:avLst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0"/>
          <p:cNvSpPr/>
          <p:nvPr/>
        </p:nvSpPr>
        <p:spPr>
          <a:xfrm>
            <a:off x="9336024" y="1993392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0"/>
          <p:cNvSpPr/>
          <p:nvPr/>
        </p:nvSpPr>
        <p:spPr>
          <a:xfrm>
            <a:off x="9336024" y="199339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김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0"/>
          <p:cNvSpPr/>
          <p:nvPr/>
        </p:nvSpPr>
        <p:spPr>
          <a:xfrm>
            <a:off x="9921240" y="201168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김현서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0"/>
          <p:cNvSpPr/>
          <p:nvPr/>
        </p:nvSpPr>
        <p:spPr>
          <a:xfrm>
            <a:off x="9930384" y="2258568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10개 작업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0"/>
          <p:cNvSpPr/>
          <p:nvPr/>
        </p:nvSpPr>
        <p:spPr>
          <a:xfrm>
            <a:off x="9345168" y="2615184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7C3AED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이탈 예측 · 리포트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6" name="Google Shape;336;p10"/>
          <p:cNvCxnSpPr/>
          <p:nvPr/>
        </p:nvCxnSpPr>
        <p:spPr>
          <a:xfrm>
            <a:off x="9354312" y="3145536"/>
            <a:ext cx="2121408" cy="0"/>
          </a:xfrm>
          <a:prstGeom prst="straightConnector1">
            <a:avLst/>
          </a:prstGeom>
          <a:noFill/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7" name="Google Shape;337;p10"/>
          <p:cNvSpPr/>
          <p:nvPr/>
        </p:nvSpPr>
        <p:spPr>
          <a:xfrm>
            <a:off x="9354312" y="3255264"/>
            <a:ext cx="2139696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Char char="•"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XGBoost 모델 학습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Char char="•"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SHAP 요인 추출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Char char="•"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FastAPI 서빙 · 배치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Char char="•"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설문(NPS) 항목 설계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Char char="•"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리포트 · 이탈 분석 화면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548640" y="5230368"/>
            <a:ext cx="11073384" cy="868680"/>
          </a:xfrm>
          <a:prstGeom prst="roundRect">
            <a:avLst>
              <a:gd fmla="val 10526" name="adj"/>
            </a:avLst>
          </a:prstGeom>
          <a:solidFill>
            <a:srgbClr val="FAFAF8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0"/>
          <p:cNvSpPr/>
          <p:nvPr/>
        </p:nvSpPr>
        <p:spPr>
          <a:xfrm>
            <a:off x="841248" y="5230368"/>
            <a:ext cx="10515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분업 원칙   </a:t>
            </a:r>
            <a:r>
              <a:rPr b="0" i="0" lang="en-US" sz="12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다른 팀원이 소유한 도메인 파일은 조회만 하고 수정하지 않는다. 필요한 로직은 내 도메인 안에 만들고, 교차 지점은 서비스 메서드 호출로만 연결한다. — 출석 도메인이 계약 테이블을 UPDATE하지 않고 별도 차감 원장을 둔 것이 대표 사례. 요구사항 정리표·테이블 정의서 등 기획 산출물과 QA는 별도 인력 없이 개발자가 개발과 병행했다.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1"/>
          <p:cNvSpPr/>
          <p:nvPr/>
        </p:nvSpPr>
        <p:spPr>
          <a:xfrm>
            <a:off x="566928" y="402336"/>
            <a:ext cx="118872" cy="118872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1"/>
          <p:cNvSpPr/>
          <p:nvPr/>
        </p:nvSpPr>
        <p:spPr>
          <a:xfrm>
            <a:off x="777240" y="32918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4F00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C84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03 · OWNERSHIP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1"/>
          <p:cNvSpPr/>
          <p:nvPr/>
        </p:nvSpPr>
        <p:spPr>
          <a:xfrm>
            <a:off x="548640" y="658368"/>
            <a:ext cx="10424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작업 영역 상세 ①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1"/>
          <p:cNvSpPr/>
          <p:nvPr/>
        </p:nvSpPr>
        <p:spPr>
          <a:xfrm>
            <a:off x="576072" y="1225296"/>
            <a:ext cx="10424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구영주 — 계약 · AI 비서 · 대시보드 · UI · QA   |   송태현 — 정산 · 물품 · 결제 · 출석 · 요구사항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1"/>
          <p:cNvSpPr/>
          <p:nvPr/>
        </p:nvSpPr>
        <p:spPr>
          <a:xfrm>
            <a:off x="11247120" y="626364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A3A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09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1"/>
          <p:cNvSpPr/>
          <p:nvPr/>
        </p:nvSpPr>
        <p:spPr>
          <a:xfrm>
            <a:off x="548640" y="1783080"/>
            <a:ext cx="5349240" cy="4343400"/>
          </a:xfrm>
          <a:prstGeom prst="roundRect">
            <a:avLst>
              <a:gd fmla="val 2526" name="adj"/>
            </a:avLst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1"/>
          <p:cNvSpPr/>
          <p:nvPr/>
        </p:nvSpPr>
        <p:spPr>
          <a:xfrm>
            <a:off x="548640" y="1783080"/>
            <a:ext cx="5349240" cy="566928"/>
          </a:xfrm>
          <a:prstGeom prst="roundRect">
            <a:avLst>
              <a:gd fmla="val 19355" name="adj"/>
            </a:avLst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1"/>
          <p:cNvSpPr/>
          <p:nvPr/>
        </p:nvSpPr>
        <p:spPr>
          <a:xfrm>
            <a:off x="548640" y="2148840"/>
            <a:ext cx="5349240" cy="201168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1"/>
          <p:cNvSpPr/>
          <p:nvPr/>
        </p:nvSpPr>
        <p:spPr>
          <a:xfrm>
            <a:off x="804672" y="1819656"/>
            <a:ext cx="48463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구영주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1"/>
          <p:cNvSpPr/>
          <p:nvPr/>
        </p:nvSpPr>
        <p:spPr>
          <a:xfrm>
            <a:off x="804672" y="2542032"/>
            <a:ext cx="1280160" cy="274320"/>
          </a:xfrm>
          <a:prstGeom prst="roundRect">
            <a:avLst>
              <a:gd fmla="val 50000" name="adj"/>
            </a:avLst>
          </a:prstGeom>
          <a:solidFill>
            <a:srgbClr val="FFF0E8"/>
          </a:solidFill>
          <a:ln cap="flat" cmpd="sng" w="12700">
            <a:solidFill>
              <a:srgbClr val="FFF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1"/>
          <p:cNvSpPr/>
          <p:nvPr/>
        </p:nvSpPr>
        <p:spPr>
          <a:xfrm>
            <a:off x="804672" y="2542032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FF6B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계약 도메인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1"/>
          <p:cNvSpPr/>
          <p:nvPr/>
        </p:nvSpPr>
        <p:spPr>
          <a:xfrm>
            <a:off x="2212848" y="2523744"/>
            <a:ext cx="3456432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유형 1~5 발행·서명·상태 전이, 중복/병행 검증,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갱신 이력, 체험권 대상 목록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1"/>
          <p:cNvSpPr/>
          <p:nvPr/>
        </p:nvSpPr>
        <p:spPr>
          <a:xfrm>
            <a:off x="804672" y="3438144"/>
            <a:ext cx="1280160" cy="274320"/>
          </a:xfrm>
          <a:prstGeom prst="roundRect">
            <a:avLst>
              <a:gd fmla="val 50000" name="adj"/>
            </a:avLst>
          </a:prstGeom>
          <a:solidFill>
            <a:srgbClr val="FFF0E8"/>
          </a:solidFill>
          <a:ln cap="flat" cmpd="sng" w="12700">
            <a:solidFill>
              <a:srgbClr val="FFF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1"/>
          <p:cNvSpPr/>
          <p:nvPr/>
        </p:nvSpPr>
        <p:spPr>
          <a:xfrm>
            <a:off x="804672" y="3438144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FF6B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비서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1"/>
          <p:cNvSpPr/>
          <p:nvPr/>
        </p:nvSpPr>
        <p:spPr>
          <a:xfrm>
            <a:off x="2212848" y="3419856"/>
            <a:ext cx="3456432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AiToolRegistry 화이트리스트, READ 도구 9종,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감사 로그, 프리뷰 게이트, 드로어 AI 탭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1"/>
          <p:cNvSpPr/>
          <p:nvPr/>
        </p:nvSpPr>
        <p:spPr>
          <a:xfrm>
            <a:off x="804672" y="4334256"/>
            <a:ext cx="1280160" cy="274320"/>
          </a:xfrm>
          <a:prstGeom prst="roundRect">
            <a:avLst>
              <a:gd fmla="val 50000" name="adj"/>
            </a:avLst>
          </a:prstGeom>
          <a:solidFill>
            <a:srgbClr val="FFF0E8"/>
          </a:solidFill>
          <a:ln cap="flat" cmpd="sng" w="12700">
            <a:solidFill>
              <a:srgbClr val="FFF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1"/>
          <p:cNvSpPr/>
          <p:nvPr/>
        </p:nvSpPr>
        <p:spPr>
          <a:xfrm>
            <a:off x="804672" y="4334256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FF6B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대시보드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1"/>
          <p:cNvSpPr/>
          <p:nvPr/>
        </p:nvSpPr>
        <p:spPr>
          <a:xfrm>
            <a:off x="2212848" y="4315968"/>
            <a:ext cx="3456432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역할별 위젯 세트, on/off·순서 저장,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없음 잠금(409) 처리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1"/>
          <p:cNvSpPr/>
          <p:nvPr/>
        </p:nvSpPr>
        <p:spPr>
          <a:xfrm>
            <a:off x="804672" y="5230368"/>
            <a:ext cx="1280160" cy="274320"/>
          </a:xfrm>
          <a:prstGeom prst="roundRect">
            <a:avLst>
              <a:gd fmla="val 50000" name="adj"/>
            </a:avLst>
          </a:prstGeom>
          <a:solidFill>
            <a:srgbClr val="FFF0E8"/>
          </a:solidFill>
          <a:ln cap="flat" cmpd="sng" w="12700">
            <a:solidFill>
              <a:srgbClr val="FFF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1"/>
          <p:cNvSpPr/>
          <p:nvPr/>
        </p:nvSpPr>
        <p:spPr>
          <a:xfrm>
            <a:off x="804672" y="523036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FF6B00"/>
                </a:solidFill>
                <a:latin typeface="Malgun Gothic"/>
                <a:ea typeface="Malgun Gothic"/>
                <a:cs typeface="Malgun Gothic"/>
                <a:sym typeface="Malgun Gothic"/>
              </a:rPr>
              <a:t>UI · QA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1"/>
          <p:cNvSpPr/>
          <p:nvPr/>
        </p:nvSpPr>
        <p:spPr>
          <a:xfrm>
            <a:off x="2212848" y="5212080"/>
            <a:ext cx="3456432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디자인 토큰 정비, LNB 셸, 통합 드로어, B2C 탭바 등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전면 리뉴얼 + 통합 QA·검수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1"/>
          <p:cNvSpPr/>
          <p:nvPr/>
        </p:nvSpPr>
        <p:spPr>
          <a:xfrm>
            <a:off x="6272784" y="1783080"/>
            <a:ext cx="5349240" cy="4343400"/>
          </a:xfrm>
          <a:prstGeom prst="roundRect">
            <a:avLst>
              <a:gd fmla="val 2526" name="adj"/>
            </a:avLst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1"/>
          <p:cNvSpPr/>
          <p:nvPr/>
        </p:nvSpPr>
        <p:spPr>
          <a:xfrm>
            <a:off x="6272784" y="1783080"/>
            <a:ext cx="5349240" cy="566928"/>
          </a:xfrm>
          <a:prstGeom prst="roundRect">
            <a:avLst>
              <a:gd fmla="val 19355" name="adj"/>
            </a:avLst>
          </a:prstGeom>
          <a:solidFill>
            <a:srgbClr val="0284C7"/>
          </a:solidFill>
          <a:ln cap="flat" cmpd="sng" w="12700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1"/>
          <p:cNvSpPr/>
          <p:nvPr/>
        </p:nvSpPr>
        <p:spPr>
          <a:xfrm>
            <a:off x="6272784" y="2148840"/>
            <a:ext cx="5349240" cy="201168"/>
          </a:xfrm>
          <a:prstGeom prst="rect">
            <a:avLst/>
          </a:prstGeom>
          <a:solidFill>
            <a:srgbClr val="0284C7"/>
          </a:solidFill>
          <a:ln cap="flat" cmpd="sng" w="12700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1"/>
          <p:cNvSpPr/>
          <p:nvPr/>
        </p:nvSpPr>
        <p:spPr>
          <a:xfrm>
            <a:off x="6528816" y="1819656"/>
            <a:ext cx="48463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송태현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1"/>
          <p:cNvSpPr/>
          <p:nvPr/>
        </p:nvSpPr>
        <p:spPr>
          <a:xfrm>
            <a:off x="6528816" y="2542032"/>
            <a:ext cx="1280160" cy="274320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1"/>
          <p:cNvSpPr/>
          <p:nvPr/>
        </p:nvSpPr>
        <p:spPr>
          <a:xfrm>
            <a:off x="6528816" y="2542032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정산 · 지출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1"/>
          <p:cNvSpPr/>
          <p:nvPr/>
        </p:nvSpPr>
        <p:spPr>
          <a:xfrm>
            <a:off x="7936992" y="2523744"/>
            <a:ext cx="345643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월별 커미션 배치, 지급 처리, 지출 관리,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요약 통계 CASE 집계, CSV 내보내기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1"/>
          <p:cNvSpPr/>
          <p:nvPr/>
        </p:nvSpPr>
        <p:spPr>
          <a:xfrm>
            <a:off x="6528816" y="3127248"/>
            <a:ext cx="1280160" cy="274320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1"/>
          <p:cNvSpPr/>
          <p:nvPr/>
        </p:nvSpPr>
        <p:spPr>
          <a:xfrm>
            <a:off x="6528816" y="312724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Malgun Gothic"/>
                <a:ea typeface="Malgun Gothic"/>
                <a:cs typeface="Malgun Gothic"/>
                <a:sym typeface="Malgun Gothic"/>
              </a:rPr>
              <a:t>물품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1"/>
          <p:cNvSpPr/>
          <p:nvPr/>
        </p:nvSpPr>
        <p:spPr>
          <a:xfrm>
            <a:off x="7936992" y="3108960"/>
            <a:ext cx="345643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카테고리·정렬·재고 집계, 지출 자동 연동,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재고 0 필터를 3개 쿼리에 동시 적용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1"/>
          <p:cNvSpPr/>
          <p:nvPr/>
        </p:nvSpPr>
        <p:spPr>
          <a:xfrm>
            <a:off x="6528816" y="3712464"/>
            <a:ext cx="1280160" cy="274320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1"/>
          <p:cNvSpPr/>
          <p:nvPr/>
        </p:nvSpPr>
        <p:spPr>
          <a:xfrm>
            <a:off x="6528816" y="3712464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결제 · 쿠폰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1"/>
          <p:cNvSpPr/>
          <p:nvPr/>
        </p:nvSpPr>
        <p:spPr>
          <a:xfrm>
            <a:off x="7936992" y="3694176"/>
            <a:ext cx="345643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사장님 주체 현장 결제 checkout,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쿠폰 검증·할인·매출 기록을 단일 트랜잭션으로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1"/>
          <p:cNvSpPr/>
          <p:nvPr/>
        </p:nvSpPr>
        <p:spPr>
          <a:xfrm>
            <a:off x="6528816" y="4297680"/>
            <a:ext cx="1280160" cy="274320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1"/>
          <p:cNvSpPr/>
          <p:nvPr/>
        </p:nvSpPr>
        <p:spPr>
          <a:xfrm>
            <a:off x="6528816" y="429768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출석 · PT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1"/>
          <p:cNvSpPr/>
          <p:nvPr/>
        </p:nvSpPr>
        <p:spPr>
          <a:xfrm>
            <a:off x="7936992" y="4279392"/>
            <a:ext cx="345643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무로그인 키오스크, PT 2단 확인 차감 원장,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트레이너/사장님/관리자 3역할 관리 화면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1"/>
          <p:cNvSpPr/>
          <p:nvPr/>
        </p:nvSpPr>
        <p:spPr>
          <a:xfrm>
            <a:off x="6528816" y="4882896"/>
            <a:ext cx="1280160" cy="274320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1"/>
          <p:cNvSpPr/>
          <p:nvPr/>
        </p:nvSpPr>
        <p:spPr>
          <a:xfrm>
            <a:off x="6528816" y="4882896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Malgun Gothic"/>
                <a:ea typeface="Malgun Gothic"/>
                <a:cs typeface="Malgun Gothic"/>
                <a:sym typeface="Malgun Gothic"/>
              </a:rPr>
              <a:t>알림 시스템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1"/>
          <p:cNvSpPr/>
          <p:nvPr/>
        </p:nvSpPr>
        <p:spPr>
          <a:xfrm>
            <a:off x="7936992" y="4864608"/>
            <a:ext cx="345643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알림 테이블 신설 + SSE 실시간 발송 공용 메서드,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만료 알림 스케줄러 — 전 도메인이 재사용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1"/>
          <p:cNvSpPr/>
          <p:nvPr/>
        </p:nvSpPr>
        <p:spPr>
          <a:xfrm>
            <a:off x="6528816" y="5468112"/>
            <a:ext cx="1280160" cy="274320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1"/>
          <p:cNvSpPr/>
          <p:nvPr/>
        </p:nvSpPr>
        <p:spPr>
          <a:xfrm>
            <a:off x="6528816" y="5468112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Malgun Gothic"/>
                <a:ea typeface="Malgun Gothic"/>
                <a:cs typeface="Malgun Gothic"/>
                <a:sym typeface="Malgun Gothic"/>
              </a:rPr>
              <a:t>요구사항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1"/>
          <p:cNvSpPr/>
          <p:nvPr/>
        </p:nvSpPr>
        <p:spPr>
          <a:xfrm>
            <a:off x="7936992" y="5449824"/>
            <a:ext cx="345643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요구사항 정리표 117건 — 중요도·권한·진행 상태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정의 및 완료율 관리(개발과 병행)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2"/>
          <p:cNvSpPr/>
          <p:nvPr/>
        </p:nvSpPr>
        <p:spPr>
          <a:xfrm>
            <a:off x="566928" y="402336"/>
            <a:ext cx="118872" cy="118872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2"/>
          <p:cNvSpPr/>
          <p:nvPr/>
        </p:nvSpPr>
        <p:spPr>
          <a:xfrm>
            <a:off x="777240" y="32918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4F00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C84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03 · OWNERSHIP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2"/>
          <p:cNvSpPr/>
          <p:nvPr/>
        </p:nvSpPr>
        <p:spPr>
          <a:xfrm>
            <a:off x="548640" y="658368"/>
            <a:ext cx="10424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작업 영역 상세 ②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2"/>
          <p:cNvSpPr/>
          <p:nvPr/>
        </p:nvSpPr>
        <p:spPr>
          <a:xfrm>
            <a:off x="576072" y="1225296"/>
            <a:ext cx="10424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조종현 — 인증 · 쿠폰 · B2C 포털   |   김현서 — 이탈 예측 · 설문 · 리포트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2"/>
          <p:cNvSpPr/>
          <p:nvPr/>
        </p:nvSpPr>
        <p:spPr>
          <a:xfrm>
            <a:off x="11247120" y="626364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A3A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2"/>
          <p:cNvSpPr/>
          <p:nvPr/>
        </p:nvSpPr>
        <p:spPr>
          <a:xfrm>
            <a:off x="548640" y="1783080"/>
            <a:ext cx="5349240" cy="4343400"/>
          </a:xfrm>
          <a:prstGeom prst="roundRect">
            <a:avLst>
              <a:gd fmla="val 2526" name="adj"/>
            </a:avLst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2"/>
          <p:cNvSpPr/>
          <p:nvPr/>
        </p:nvSpPr>
        <p:spPr>
          <a:xfrm>
            <a:off x="548640" y="1783080"/>
            <a:ext cx="5349240" cy="566928"/>
          </a:xfrm>
          <a:prstGeom prst="roundRect">
            <a:avLst>
              <a:gd fmla="val 19355" name="adj"/>
            </a:avLst>
          </a:prstGeom>
          <a:solidFill>
            <a:srgbClr val="15803D"/>
          </a:solidFill>
          <a:ln cap="flat" cmpd="sng" w="12700">
            <a:solidFill>
              <a:srgbClr val="1580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2"/>
          <p:cNvSpPr/>
          <p:nvPr/>
        </p:nvSpPr>
        <p:spPr>
          <a:xfrm>
            <a:off x="548640" y="2148840"/>
            <a:ext cx="5349240" cy="201168"/>
          </a:xfrm>
          <a:prstGeom prst="rect">
            <a:avLst/>
          </a:prstGeom>
          <a:solidFill>
            <a:srgbClr val="15803D"/>
          </a:solidFill>
          <a:ln cap="flat" cmpd="sng" w="12700">
            <a:solidFill>
              <a:srgbClr val="1580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2"/>
          <p:cNvSpPr/>
          <p:nvPr/>
        </p:nvSpPr>
        <p:spPr>
          <a:xfrm>
            <a:off x="804672" y="1819656"/>
            <a:ext cx="48463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조종현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2"/>
          <p:cNvSpPr/>
          <p:nvPr/>
        </p:nvSpPr>
        <p:spPr>
          <a:xfrm>
            <a:off x="804672" y="2542032"/>
            <a:ext cx="1280160" cy="274320"/>
          </a:xfrm>
          <a:prstGeom prst="roundRect">
            <a:avLst>
              <a:gd fmla="val 50000" name="adj"/>
            </a:avLst>
          </a:prstGeom>
          <a:solidFill>
            <a:srgbClr val="F0FDF4"/>
          </a:solidFill>
          <a:ln cap="flat" cmpd="sng" w="12700">
            <a:solidFill>
              <a:srgbClr val="F0F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2"/>
          <p:cNvSpPr/>
          <p:nvPr/>
        </p:nvSpPr>
        <p:spPr>
          <a:xfrm>
            <a:off x="804672" y="2542032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1580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인증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2"/>
          <p:cNvSpPr/>
          <p:nvPr/>
        </p:nvSpPr>
        <p:spPr>
          <a:xfrm>
            <a:off x="2212848" y="2523744"/>
            <a:ext cx="345643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회원가입·로그인, 역할별 진입 경로(/fitb·/fitc) 분기,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JWT access 발급·검증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2"/>
          <p:cNvSpPr/>
          <p:nvPr/>
        </p:nvSpPr>
        <p:spPr>
          <a:xfrm>
            <a:off x="804672" y="3127248"/>
            <a:ext cx="1280160" cy="274320"/>
          </a:xfrm>
          <a:prstGeom prst="roundRect">
            <a:avLst>
              <a:gd fmla="val 50000" name="adj"/>
            </a:avLst>
          </a:prstGeom>
          <a:solidFill>
            <a:srgbClr val="F0FDF4"/>
          </a:solidFill>
          <a:ln cap="flat" cmpd="sng" w="12700">
            <a:solidFill>
              <a:srgbClr val="F0F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2"/>
          <p:cNvSpPr/>
          <p:nvPr/>
        </p:nvSpPr>
        <p:spPr>
          <a:xfrm>
            <a:off x="804672" y="312724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1580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세션 · 보안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2"/>
          <p:cNvSpPr/>
          <p:nvPr/>
        </p:nvSpPr>
        <p:spPr>
          <a:xfrm>
            <a:off x="2212848" y="3108960"/>
            <a:ext cx="345643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Refresh Token 저장·재발급과 로그아웃 시 영구 소거,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PasswordEncoder 적용 및 계정정보 수정 시 재암호화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2"/>
          <p:cNvSpPr/>
          <p:nvPr/>
        </p:nvSpPr>
        <p:spPr>
          <a:xfrm>
            <a:off x="804672" y="3712464"/>
            <a:ext cx="1280160" cy="274320"/>
          </a:xfrm>
          <a:prstGeom prst="roundRect">
            <a:avLst>
              <a:gd fmla="val 50000" name="adj"/>
            </a:avLst>
          </a:prstGeom>
          <a:solidFill>
            <a:srgbClr val="F0FDF4"/>
          </a:solidFill>
          <a:ln cap="flat" cmpd="sng" w="12700">
            <a:solidFill>
              <a:srgbClr val="F0F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2"/>
          <p:cNvSpPr/>
          <p:nvPr/>
        </p:nvSpPr>
        <p:spPr>
          <a:xfrm>
            <a:off x="804672" y="3712464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1580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쿠폰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2"/>
          <p:cNvSpPr/>
          <p:nvPr/>
        </p:nvSpPr>
        <p:spPr>
          <a:xfrm>
            <a:off x="2212848" y="3694176"/>
            <a:ext cx="345643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쿠폰 발급·목록·상태 관리, 중복 발급 방지,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회원 보유 쿠폰 조회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2"/>
          <p:cNvSpPr/>
          <p:nvPr/>
        </p:nvSpPr>
        <p:spPr>
          <a:xfrm>
            <a:off x="804672" y="4297680"/>
            <a:ext cx="1280160" cy="274320"/>
          </a:xfrm>
          <a:prstGeom prst="roundRect">
            <a:avLst>
              <a:gd fmla="val 50000" name="adj"/>
            </a:avLst>
          </a:prstGeom>
          <a:solidFill>
            <a:srgbClr val="F0FDF4"/>
          </a:solidFill>
          <a:ln cap="flat" cmpd="sng" w="12700">
            <a:solidFill>
              <a:srgbClr val="F0F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2"/>
          <p:cNvSpPr/>
          <p:nvPr/>
        </p:nvSpPr>
        <p:spPr>
          <a:xfrm>
            <a:off x="804672" y="429768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15803D"/>
                </a:solidFill>
                <a:latin typeface="Malgun Gothic"/>
                <a:ea typeface="Malgun Gothic"/>
                <a:cs typeface="Malgun Gothic"/>
                <a:sym typeface="Malgun Gothic"/>
              </a:rPr>
              <a:t>B2C 포털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2"/>
          <p:cNvSpPr/>
          <p:nvPr/>
        </p:nvSpPr>
        <p:spPr>
          <a:xfrm>
            <a:off x="2212848" y="4279392"/>
            <a:ext cx="345643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마이페이지 — 멤버십 조회, 건의사항 작성·내역,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계정 설정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2"/>
          <p:cNvSpPr/>
          <p:nvPr/>
        </p:nvSpPr>
        <p:spPr>
          <a:xfrm>
            <a:off x="804672" y="4882896"/>
            <a:ext cx="1280160" cy="274320"/>
          </a:xfrm>
          <a:prstGeom prst="roundRect">
            <a:avLst>
              <a:gd fmla="val 50000" name="adj"/>
            </a:avLst>
          </a:prstGeom>
          <a:solidFill>
            <a:srgbClr val="F0FDF4"/>
          </a:solidFill>
          <a:ln cap="flat" cmpd="sng" w="12700">
            <a:solidFill>
              <a:srgbClr val="F0F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2"/>
          <p:cNvSpPr/>
          <p:nvPr/>
        </p:nvSpPr>
        <p:spPr>
          <a:xfrm>
            <a:off x="804672" y="4882896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1580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아바타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2"/>
          <p:cNvSpPr/>
          <p:nvPr/>
        </p:nvSpPr>
        <p:spPr>
          <a:xfrm>
            <a:off x="2212848" y="4864608"/>
            <a:ext cx="345643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최근 30일 출석 일수로 성장하는 회원 아바타 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레벨 배지와 슬라이더 미리보기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2"/>
          <p:cNvSpPr/>
          <p:nvPr/>
        </p:nvSpPr>
        <p:spPr>
          <a:xfrm>
            <a:off x="804672" y="5468112"/>
            <a:ext cx="1280160" cy="274320"/>
          </a:xfrm>
          <a:prstGeom prst="roundRect">
            <a:avLst>
              <a:gd fmla="val 50000" name="adj"/>
            </a:avLst>
          </a:prstGeom>
          <a:solidFill>
            <a:srgbClr val="F0FDF4"/>
          </a:solidFill>
          <a:ln cap="flat" cmpd="sng" w="12700">
            <a:solidFill>
              <a:srgbClr val="F0F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2"/>
          <p:cNvSpPr/>
          <p:nvPr/>
        </p:nvSpPr>
        <p:spPr>
          <a:xfrm>
            <a:off x="804672" y="5468112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15803D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공통 인프라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2"/>
          <p:cNvSpPr/>
          <p:nvPr/>
        </p:nvSpPr>
        <p:spPr>
          <a:xfrm>
            <a:off x="2212848" y="5449824"/>
            <a:ext cx="345643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초기 골격과 라우팅 구성,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알림 목록·헤더 등 공통 화면 연동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2"/>
          <p:cNvSpPr/>
          <p:nvPr/>
        </p:nvSpPr>
        <p:spPr>
          <a:xfrm>
            <a:off x="6272784" y="1783080"/>
            <a:ext cx="5349240" cy="4343400"/>
          </a:xfrm>
          <a:prstGeom prst="roundRect">
            <a:avLst>
              <a:gd fmla="val 2526" name="adj"/>
            </a:avLst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2"/>
          <p:cNvSpPr/>
          <p:nvPr/>
        </p:nvSpPr>
        <p:spPr>
          <a:xfrm>
            <a:off x="6272784" y="1783080"/>
            <a:ext cx="5349240" cy="566928"/>
          </a:xfrm>
          <a:prstGeom prst="roundRect">
            <a:avLst>
              <a:gd fmla="val 19355" name="adj"/>
            </a:avLst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2"/>
          <p:cNvSpPr/>
          <p:nvPr/>
        </p:nvSpPr>
        <p:spPr>
          <a:xfrm>
            <a:off x="6272784" y="2148840"/>
            <a:ext cx="5349240" cy="201168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2"/>
          <p:cNvSpPr/>
          <p:nvPr/>
        </p:nvSpPr>
        <p:spPr>
          <a:xfrm>
            <a:off x="6528816" y="1819656"/>
            <a:ext cx="48463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김현서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2"/>
          <p:cNvSpPr/>
          <p:nvPr/>
        </p:nvSpPr>
        <p:spPr>
          <a:xfrm>
            <a:off x="6528816" y="2542032"/>
            <a:ext cx="1280160" cy="274320"/>
          </a:xfrm>
          <a:prstGeom prst="roundRect">
            <a:avLst>
              <a:gd fmla="val 50000" name="adj"/>
            </a:avLst>
          </a:prstGeom>
          <a:solidFill>
            <a:srgbClr val="F3E8FF"/>
          </a:solidFill>
          <a:ln cap="flat" cmpd="sng" w="12700">
            <a:solidFill>
              <a:srgbClr val="F3E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2"/>
          <p:cNvSpPr/>
          <p:nvPr/>
        </p:nvSpPr>
        <p:spPr>
          <a:xfrm>
            <a:off x="6528816" y="2542032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7C3AED"/>
                </a:solidFill>
                <a:latin typeface="Malgun Gothic"/>
                <a:ea typeface="Malgun Gothic"/>
                <a:cs typeface="Malgun Gothic"/>
                <a:sym typeface="Malgun Gothic"/>
              </a:rPr>
              <a:t>피처 설계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2"/>
          <p:cNvSpPr/>
          <p:nvPr/>
        </p:nvSpPr>
        <p:spPr>
          <a:xfrm>
            <a:off x="7936992" y="2523744"/>
            <a:ext cx="3456432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예측 입력 데이터 구성 — 나이·이용개월·주당 방문·운동시간·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PT 여부·혼잡도 등 행동 8종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2"/>
          <p:cNvSpPr/>
          <p:nvPr/>
        </p:nvSpPr>
        <p:spPr>
          <a:xfrm>
            <a:off x="6528816" y="3264408"/>
            <a:ext cx="1280160" cy="274320"/>
          </a:xfrm>
          <a:prstGeom prst="roundRect">
            <a:avLst>
              <a:gd fmla="val 50000" name="adj"/>
            </a:avLst>
          </a:prstGeom>
          <a:solidFill>
            <a:srgbClr val="F3E8FF"/>
          </a:solidFill>
          <a:ln cap="flat" cmpd="sng" w="12700">
            <a:solidFill>
              <a:srgbClr val="F3E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2"/>
          <p:cNvSpPr/>
          <p:nvPr/>
        </p:nvSpPr>
        <p:spPr>
          <a:xfrm>
            <a:off x="6528816" y="326440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7C3AED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 학습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2"/>
          <p:cNvSpPr/>
          <p:nvPr/>
        </p:nvSpPr>
        <p:spPr>
          <a:xfrm>
            <a:off x="7936992" y="3246120"/>
            <a:ext cx="3456432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XGBoost 이탈 확률 모델 학습 및 보정(calibration),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joblib 번들로 패키징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2"/>
          <p:cNvSpPr/>
          <p:nvPr/>
        </p:nvSpPr>
        <p:spPr>
          <a:xfrm>
            <a:off x="6528816" y="3986784"/>
            <a:ext cx="1280160" cy="274320"/>
          </a:xfrm>
          <a:prstGeom prst="roundRect">
            <a:avLst>
              <a:gd fmla="val 50000" name="adj"/>
            </a:avLst>
          </a:prstGeom>
          <a:solidFill>
            <a:srgbClr val="F3E8FF"/>
          </a:solidFill>
          <a:ln cap="flat" cmpd="sng" w="12700">
            <a:solidFill>
              <a:srgbClr val="F3E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2"/>
          <p:cNvSpPr/>
          <p:nvPr/>
        </p:nvSpPr>
        <p:spPr>
          <a:xfrm>
            <a:off x="6528816" y="3986784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7C3AED"/>
                </a:solidFill>
                <a:latin typeface="Malgun Gothic"/>
                <a:ea typeface="Malgun Gothic"/>
                <a:cs typeface="Malgun Gothic"/>
                <a:sym typeface="Malgun Gothic"/>
              </a:rPr>
              <a:t>요인 추출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2"/>
          <p:cNvSpPr/>
          <p:nvPr/>
        </p:nvSpPr>
        <p:spPr>
          <a:xfrm>
            <a:off x="7936992" y="3968496"/>
            <a:ext cx="3456432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SHAP 값으로 개별 회원의 상위 3개 이탈 요인을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상위 3개 요인으로 산출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2"/>
          <p:cNvSpPr/>
          <p:nvPr/>
        </p:nvSpPr>
        <p:spPr>
          <a:xfrm>
            <a:off x="6528816" y="4709160"/>
            <a:ext cx="1280160" cy="274320"/>
          </a:xfrm>
          <a:prstGeom prst="roundRect">
            <a:avLst>
              <a:gd fmla="val 50000" name="adj"/>
            </a:avLst>
          </a:prstGeom>
          <a:solidFill>
            <a:srgbClr val="F3E8FF"/>
          </a:solidFill>
          <a:ln cap="flat" cmpd="sng" w="12700">
            <a:solidFill>
              <a:srgbClr val="F3E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2"/>
          <p:cNvSpPr/>
          <p:nvPr/>
        </p:nvSpPr>
        <p:spPr>
          <a:xfrm>
            <a:off x="6528816" y="470916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7C3AED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서빙 · 배치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2"/>
          <p:cNvSpPr/>
          <p:nvPr/>
        </p:nvSpPr>
        <p:spPr>
          <a:xfrm>
            <a:off x="7936992" y="4690872"/>
            <a:ext cx="3456432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FastAPI 서비스화 + 일 1회 배치로 전 회원 예측 결과를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예측 결과 테이블에 일자별 누적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2"/>
          <p:cNvSpPr/>
          <p:nvPr/>
        </p:nvSpPr>
        <p:spPr>
          <a:xfrm>
            <a:off x="6528816" y="5431536"/>
            <a:ext cx="1280160" cy="274320"/>
          </a:xfrm>
          <a:prstGeom prst="roundRect">
            <a:avLst>
              <a:gd fmla="val 50000" name="adj"/>
            </a:avLst>
          </a:prstGeom>
          <a:solidFill>
            <a:srgbClr val="F3E8FF"/>
          </a:solidFill>
          <a:ln cap="flat" cmpd="sng" w="12700">
            <a:solidFill>
              <a:srgbClr val="F3E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2"/>
          <p:cNvSpPr/>
          <p:nvPr/>
        </p:nvSpPr>
        <p:spPr>
          <a:xfrm>
            <a:off x="6528816" y="5431536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7C3AED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설문 · 리포트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2"/>
          <p:cNvSpPr/>
          <p:nvPr/>
        </p:nvSpPr>
        <p:spPr>
          <a:xfrm>
            <a:off x="7936992" y="5413248"/>
            <a:ext cx="3456432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만족도 설문(NPS) 항목 설계와 수집,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이탈 분석 리포트 화면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3"/>
          <p:cNvSpPr/>
          <p:nvPr/>
        </p:nvSpPr>
        <p:spPr>
          <a:xfrm>
            <a:off x="566928" y="402336"/>
            <a:ext cx="118872" cy="118872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3"/>
          <p:cNvSpPr/>
          <p:nvPr/>
        </p:nvSpPr>
        <p:spPr>
          <a:xfrm>
            <a:off x="777240" y="32918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4F00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C84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04 · FEATURE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3"/>
          <p:cNvSpPr/>
          <p:nvPr/>
        </p:nvSpPr>
        <p:spPr>
          <a:xfrm>
            <a:off x="548640" y="658368"/>
            <a:ext cx="10424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기능 ① 계약 — 서비스의 시작점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3"/>
          <p:cNvSpPr/>
          <p:nvPr/>
        </p:nvSpPr>
        <p:spPr>
          <a:xfrm>
            <a:off x="576072" y="1225296"/>
            <a:ext cx="10424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5개 계약 유형을 단일 테이블에서 발행자/수신자로 추상화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3"/>
          <p:cNvSpPr/>
          <p:nvPr/>
        </p:nvSpPr>
        <p:spPr>
          <a:xfrm>
            <a:off x="11247120" y="626364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A3A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11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3"/>
          <p:cNvSpPr/>
          <p:nvPr/>
        </p:nvSpPr>
        <p:spPr>
          <a:xfrm>
            <a:off x="548640" y="1783080"/>
            <a:ext cx="2066544" cy="1600200"/>
          </a:xfrm>
          <a:prstGeom prst="roundRect">
            <a:avLst>
              <a:gd fmla="val 6286" name="adj"/>
            </a:avLst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3"/>
          <p:cNvSpPr/>
          <p:nvPr/>
        </p:nvSpPr>
        <p:spPr>
          <a:xfrm>
            <a:off x="768096" y="1975104"/>
            <a:ext cx="347472" cy="347472"/>
          </a:xfrm>
          <a:prstGeom prst="roundRect">
            <a:avLst>
              <a:gd fmla="val 21053" name="adj"/>
            </a:avLst>
          </a:prstGeom>
          <a:solidFill>
            <a:srgbClr val="1717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3"/>
          <p:cNvSpPr/>
          <p:nvPr/>
        </p:nvSpPr>
        <p:spPr>
          <a:xfrm>
            <a:off x="768096" y="197510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3"/>
          <p:cNvSpPr/>
          <p:nvPr/>
        </p:nvSpPr>
        <p:spPr>
          <a:xfrm>
            <a:off x="1207008" y="1975104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제휴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3"/>
          <p:cNvSpPr/>
          <p:nvPr/>
        </p:nvSpPr>
        <p:spPr>
          <a:xfrm>
            <a:off x="777240" y="2432304"/>
            <a:ext cx="1691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ADMIN ↔ OWNER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3"/>
          <p:cNvSpPr/>
          <p:nvPr/>
        </p:nvSpPr>
        <p:spPr>
          <a:xfrm>
            <a:off x="777240" y="2688336"/>
            <a:ext cx="1691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수수료율만 사용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3"/>
          <p:cNvSpPr/>
          <p:nvPr/>
        </p:nvSpPr>
        <p:spPr>
          <a:xfrm>
            <a:off x="2788920" y="1783080"/>
            <a:ext cx="2066544" cy="1600200"/>
          </a:xfrm>
          <a:prstGeom prst="roundRect">
            <a:avLst>
              <a:gd fmla="val 6286" name="adj"/>
            </a:avLst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3"/>
          <p:cNvSpPr/>
          <p:nvPr/>
        </p:nvSpPr>
        <p:spPr>
          <a:xfrm>
            <a:off x="3008376" y="1975104"/>
            <a:ext cx="347472" cy="347472"/>
          </a:xfrm>
          <a:prstGeom prst="roundRect">
            <a:avLst>
              <a:gd fmla="val 21053" name="adj"/>
            </a:avLst>
          </a:prstGeom>
          <a:solidFill>
            <a:srgbClr val="5252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3"/>
          <p:cNvSpPr/>
          <p:nvPr/>
        </p:nvSpPr>
        <p:spPr>
          <a:xfrm>
            <a:off x="3008376" y="197510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3"/>
          <p:cNvSpPr/>
          <p:nvPr/>
        </p:nvSpPr>
        <p:spPr>
          <a:xfrm>
            <a:off x="3447288" y="1975104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임금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3"/>
          <p:cNvSpPr/>
          <p:nvPr/>
        </p:nvSpPr>
        <p:spPr>
          <a:xfrm>
            <a:off x="3017520" y="2432304"/>
            <a:ext cx="1691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OWNER ↔ TRAINER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3"/>
          <p:cNvSpPr/>
          <p:nvPr/>
        </p:nvSpPr>
        <p:spPr>
          <a:xfrm>
            <a:off x="3017520" y="2688336"/>
            <a:ext cx="1691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재작성 시 INSERT 아닌 UPDATE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3"/>
          <p:cNvSpPr/>
          <p:nvPr/>
        </p:nvSpPr>
        <p:spPr>
          <a:xfrm>
            <a:off x="5029200" y="1783080"/>
            <a:ext cx="2066544" cy="1600200"/>
          </a:xfrm>
          <a:prstGeom prst="roundRect">
            <a:avLst>
              <a:gd fmla="val 6286" name="adj"/>
            </a:avLst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3"/>
          <p:cNvSpPr/>
          <p:nvPr/>
        </p:nvSpPr>
        <p:spPr>
          <a:xfrm>
            <a:off x="5248656" y="1975104"/>
            <a:ext cx="347472" cy="347472"/>
          </a:xfrm>
          <a:prstGeom prst="roundRect">
            <a:avLst>
              <a:gd fmla="val 21053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3"/>
          <p:cNvSpPr/>
          <p:nvPr/>
        </p:nvSpPr>
        <p:spPr>
          <a:xfrm>
            <a:off x="5248656" y="197510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3"/>
          <p:cNvSpPr/>
          <p:nvPr/>
        </p:nvSpPr>
        <p:spPr>
          <a:xfrm>
            <a:off x="5687568" y="1975104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이용권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3"/>
          <p:cNvSpPr/>
          <p:nvPr/>
        </p:nvSpPr>
        <p:spPr>
          <a:xfrm>
            <a:off x="5257800" y="2432304"/>
            <a:ext cx="1691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0284C7"/>
                </a:solidFill>
                <a:latin typeface="Malgun Gothic"/>
                <a:ea typeface="Malgun Gothic"/>
                <a:cs typeface="Malgun Gothic"/>
                <a:sym typeface="Malgun Gothic"/>
              </a:rPr>
              <a:t>OWNER ↔ MEMBER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3"/>
          <p:cNvSpPr/>
          <p:nvPr/>
        </p:nvSpPr>
        <p:spPr>
          <a:xfrm>
            <a:off x="5257800" y="2688336"/>
            <a:ext cx="1691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PT 횟수 0이면 이용권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3"/>
          <p:cNvSpPr/>
          <p:nvPr/>
        </p:nvSpPr>
        <p:spPr>
          <a:xfrm>
            <a:off x="7269480" y="1783080"/>
            <a:ext cx="2066544" cy="1600200"/>
          </a:xfrm>
          <a:prstGeom prst="roundRect">
            <a:avLst>
              <a:gd fmla="val 6286" name="adj"/>
            </a:avLst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3"/>
          <p:cNvSpPr/>
          <p:nvPr/>
        </p:nvSpPr>
        <p:spPr>
          <a:xfrm>
            <a:off x="7488936" y="1975104"/>
            <a:ext cx="347472" cy="347472"/>
          </a:xfrm>
          <a:prstGeom prst="roundRect">
            <a:avLst>
              <a:gd fmla="val 21053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3"/>
          <p:cNvSpPr/>
          <p:nvPr/>
        </p:nvSpPr>
        <p:spPr>
          <a:xfrm>
            <a:off x="7488936" y="197510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3"/>
          <p:cNvSpPr/>
          <p:nvPr/>
        </p:nvSpPr>
        <p:spPr>
          <a:xfrm>
            <a:off x="7927848" y="1975104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PT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3"/>
          <p:cNvSpPr/>
          <p:nvPr/>
        </p:nvSpPr>
        <p:spPr>
          <a:xfrm>
            <a:off x="7498080" y="2432304"/>
            <a:ext cx="1691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7C3AED"/>
                </a:solidFill>
                <a:latin typeface="Malgun Gothic"/>
                <a:ea typeface="Malgun Gothic"/>
                <a:cs typeface="Malgun Gothic"/>
                <a:sym typeface="Malgun Gothic"/>
              </a:rPr>
              <a:t>OWNER ↔ MEMBER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3"/>
          <p:cNvSpPr/>
          <p:nvPr/>
        </p:nvSpPr>
        <p:spPr>
          <a:xfrm>
            <a:off x="7498080" y="2688336"/>
            <a:ext cx="1691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PT 횟수 1회 이상이면 PT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3"/>
          <p:cNvSpPr/>
          <p:nvPr/>
        </p:nvSpPr>
        <p:spPr>
          <a:xfrm>
            <a:off x="9509760" y="1783080"/>
            <a:ext cx="2066544" cy="1600200"/>
          </a:xfrm>
          <a:prstGeom prst="roundRect">
            <a:avLst>
              <a:gd fmla="val 6286" name="adj"/>
            </a:avLst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3"/>
          <p:cNvSpPr/>
          <p:nvPr/>
        </p:nvSpPr>
        <p:spPr>
          <a:xfrm>
            <a:off x="9729216" y="1975104"/>
            <a:ext cx="347472" cy="347472"/>
          </a:xfrm>
          <a:prstGeom prst="roundRect">
            <a:avLst>
              <a:gd fmla="val 21053" name="adj"/>
            </a:avLst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3"/>
          <p:cNvSpPr/>
          <p:nvPr/>
        </p:nvSpPr>
        <p:spPr>
          <a:xfrm>
            <a:off x="9729216" y="197510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3"/>
          <p:cNvSpPr/>
          <p:nvPr/>
        </p:nvSpPr>
        <p:spPr>
          <a:xfrm>
            <a:off x="10168128" y="1975104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PT 체험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3"/>
          <p:cNvSpPr/>
          <p:nvPr/>
        </p:nvSpPr>
        <p:spPr>
          <a:xfrm>
            <a:off x="9738360" y="2432304"/>
            <a:ext cx="1691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FF6B00"/>
                </a:solidFill>
                <a:latin typeface="Malgun Gothic"/>
                <a:ea typeface="Malgun Gothic"/>
                <a:cs typeface="Malgun Gothic"/>
                <a:sym typeface="Malgun Gothic"/>
              </a:rPr>
              <a:t>OWNER ↔ MEMBER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3"/>
          <p:cNvSpPr/>
          <p:nvPr/>
        </p:nvSpPr>
        <p:spPr>
          <a:xfrm>
            <a:off x="9738360" y="2688336"/>
            <a:ext cx="1691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체험권 쿠폰 기반, 중복 발행 차단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3"/>
          <p:cNvSpPr/>
          <p:nvPr/>
        </p:nvSpPr>
        <p:spPr>
          <a:xfrm>
            <a:off x="548640" y="3584448"/>
            <a:ext cx="11073384" cy="1371600"/>
          </a:xfrm>
          <a:prstGeom prst="roundRect">
            <a:avLst>
              <a:gd fmla="val 8000" name="adj"/>
            </a:avLst>
          </a:prstGeom>
          <a:solidFill>
            <a:srgbClr val="FAFAF8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3"/>
          <p:cNvSpPr/>
          <p:nvPr/>
        </p:nvSpPr>
        <p:spPr>
          <a:xfrm>
            <a:off x="841248" y="3712464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계약 상태 흐름 (전 유형 공통)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3"/>
          <p:cNvSpPr/>
          <p:nvPr/>
        </p:nvSpPr>
        <p:spPr>
          <a:xfrm>
            <a:off x="841248" y="4096512"/>
            <a:ext cx="1810512" cy="566928"/>
          </a:xfrm>
          <a:prstGeom prst="roundRect">
            <a:avLst>
              <a:gd fmla="val 16129" name="adj"/>
            </a:avLst>
          </a:prstGeom>
          <a:solidFill>
            <a:srgbClr val="FFFFFF"/>
          </a:solidFill>
          <a:ln cap="flat" cmpd="sng" w="19050">
            <a:solidFill>
              <a:srgbClr val="A3A3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3"/>
          <p:cNvSpPr/>
          <p:nvPr/>
        </p:nvSpPr>
        <p:spPr>
          <a:xfrm>
            <a:off x="841248" y="4096512"/>
            <a:ext cx="181051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A3A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DRAFT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3" name="Google Shape;483;p13"/>
          <p:cNvCxnSpPr/>
          <p:nvPr/>
        </p:nvCxnSpPr>
        <p:spPr>
          <a:xfrm>
            <a:off x="2670048" y="4379976"/>
            <a:ext cx="310896" cy="0"/>
          </a:xfrm>
          <a:prstGeom prst="straightConnector1">
            <a:avLst/>
          </a:prstGeom>
          <a:noFill/>
          <a:ln cap="flat" cmpd="sng" w="19050">
            <a:solidFill>
              <a:srgbClr val="D4D4D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84" name="Google Shape;484;p13"/>
          <p:cNvSpPr/>
          <p:nvPr/>
        </p:nvSpPr>
        <p:spPr>
          <a:xfrm>
            <a:off x="2999232" y="4096512"/>
            <a:ext cx="1810512" cy="566928"/>
          </a:xfrm>
          <a:prstGeom prst="roundRect">
            <a:avLst>
              <a:gd fmla="val 16129" name="adj"/>
            </a:avLst>
          </a:prstGeom>
          <a:solidFill>
            <a:srgbClr val="FFFFFF"/>
          </a:solidFill>
          <a:ln cap="flat" cmpd="sng" w="19050">
            <a:solidFill>
              <a:srgbClr val="5252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3"/>
          <p:cNvSpPr/>
          <p:nvPr/>
        </p:nvSpPr>
        <p:spPr>
          <a:xfrm>
            <a:off x="2999232" y="4096512"/>
            <a:ext cx="181051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ISSUED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6" name="Google Shape;486;p13"/>
          <p:cNvCxnSpPr/>
          <p:nvPr/>
        </p:nvCxnSpPr>
        <p:spPr>
          <a:xfrm>
            <a:off x="4828032" y="4379976"/>
            <a:ext cx="310896" cy="0"/>
          </a:xfrm>
          <a:prstGeom prst="straightConnector1">
            <a:avLst/>
          </a:prstGeom>
          <a:noFill/>
          <a:ln cap="flat" cmpd="sng" w="19050">
            <a:solidFill>
              <a:srgbClr val="D4D4D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87" name="Google Shape;487;p13"/>
          <p:cNvSpPr/>
          <p:nvPr/>
        </p:nvSpPr>
        <p:spPr>
          <a:xfrm>
            <a:off x="5157216" y="4096512"/>
            <a:ext cx="1810512" cy="566928"/>
          </a:xfrm>
          <a:prstGeom prst="roundRect">
            <a:avLst>
              <a:gd fmla="val 16129" name="adj"/>
            </a:avLst>
          </a:prstGeom>
          <a:solidFill>
            <a:srgbClr val="FFFFFF"/>
          </a:solidFill>
          <a:ln cap="flat" cmpd="sng" w="1905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3"/>
          <p:cNvSpPr/>
          <p:nvPr/>
        </p:nvSpPr>
        <p:spPr>
          <a:xfrm>
            <a:off x="5157216" y="4096512"/>
            <a:ext cx="181051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SIGNED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9" name="Google Shape;489;p13"/>
          <p:cNvCxnSpPr/>
          <p:nvPr/>
        </p:nvCxnSpPr>
        <p:spPr>
          <a:xfrm>
            <a:off x="6986016" y="4379976"/>
            <a:ext cx="310896" cy="0"/>
          </a:xfrm>
          <a:prstGeom prst="straightConnector1">
            <a:avLst/>
          </a:prstGeom>
          <a:noFill/>
          <a:ln cap="flat" cmpd="sng" w="19050">
            <a:solidFill>
              <a:srgbClr val="D4D4D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90" name="Google Shape;490;p13"/>
          <p:cNvSpPr/>
          <p:nvPr/>
        </p:nvSpPr>
        <p:spPr>
          <a:xfrm>
            <a:off x="7315200" y="4096512"/>
            <a:ext cx="1810512" cy="566928"/>
          </a:xfrm>
          <a:prstGeom prst="roundRect">
            <a:avLst>
              <a:gd fmla="val 16129" name="adj"/>
            </a:avLst>
          </a:prstGeom>
          <a:solidFill>
            <a:srgbClr val="FFFFFF"/>
          </a:solidFill>
          <a:ln cap="flat" cmpd="sng" w="19050">
            <a:solidFill>
              <a:srgbClr val="1580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3"/>
          <p:cNvSpPr/>
          <p:nvPr/>
        </p:nvSpPr>
        <p:spPr>
          <a:xfrm>
            <a:off x="7315200" y="4096512"/>
            <a:ext cx="181051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15803D"/>
                </a:solidFill>
                <a:latin typeface="Malgun Gothic"/>
                <a:ea typeface="Malgun Gothic"/>
                <a:cs typeface="Malgun Gothic"/>
                <a:sym typeface="Malgun Gothic"/>
              </a:rPr>
              <a:t>ACTIVE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2" name="Google Shape;492;p13"/>
          <p:cNvCxnSpPr/>
          <p:nvPr/>
        </p:nvCxnSpPr>
        <p:spPr>
          <a:xfrm>
            <a:off x="9144000" y="4379976"/>
            <a:ext cx="310896" cy="0"/>
          </a:xfrm>
          <a:prstGeom prst="straightConnector1">
            <a:avLst/>
          </a:prstGeom>
          <a:noFill/>
          <a:ln cap="flat" cmpd="sng" w="19050">
            <a:solidFill>
              <a:srgbClr val="D4D4D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93" name="Google Shape;493;p13"/>
          <p:cNvSpPr/>
          <p:nvPr/>
        </p:nvSpPr>
        <p:spPr>
          <a:xfrm>
            <a:off x="9473184" y="4096512"/>
            <a:ext cx="1810512" cy="566928"/>
          </a:xfrm>
          <a:prstGeom prst="roundRect">
            <a:avLst>
              <a:gd fmla="val 16129" name="adj"/>
            </a:avLst>
          </a:prstGeom>
          <a:solidFill>
            <a:srgbClr val="FFFFFF"/>
          </a:solidFill>
          <a:ln cap="flat" cmpd="sng" w="1905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3"/>
          <p:cNvSpPr/>
          <p:nvPr/>
        </p:nvSpPr>
        <p:spPr>
          <a:xfrm>
            <a:off x="9473184" y="4096512"/>
            <a:ext cx="181051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B91C1C"/>
                </a:solidFill>
                <a:latin typeface="Malgun Gothic"/>
                <a:ea typeface="Malgun Gothic"/>
                <a:cs typeface="Malgun Gothic"/>
                <a:sym typeface="Malgun Gothic"/>
              </a:rPr>
              <a:t>TERMINATED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3"/>
          <p:cNvSpPr/>
          <p:nvPr/>
        </p:nvSpPr>
        <p:spPr>
          <a:xfrm>
            <a:off x="548640" y="5138928"/>
            <a:ext cx="3575304" cy="1051560"/>
          </a:xfrm>
          <a:prstGeom prst="roundRect">
            <a:avLst>
              <a:gd fmla="val 8696" name="adj"/>
            </a:avLst>
          </a:prstGeom>
          <a:solidFill>
            <a:srgbClr val="EFF6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3"/>
          <p:cNvSpPr/>
          <p:nvPr/>
        </p:nvSpPr>
        <p:spPr>
          <a:xfrm>
            <a:off x="786384" y="5248656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서명 시점 자동 가입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3"/>
          <p:cNvSpPr/>
          <p:nvPr/>
        </p:nvSpPr>
        <p:spPr>
          <a:xfrm>
            <a:off x="795528" y="5513832"/>
            <a:ext cx="3127248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발행 단계에서는 미가입 수신자의 번호만 저장(FK 없음)하고, 서명이 완료되는 순간 자동 회원가입한다. 서명과 가입은 하나의 @Transactional로 묶어 함께 롤백된다.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3"/>
          <p:cNvSpPr/>
          <p:nvPr/>
        </p:nvSpPr>
        <p:spPr>
          <a:xfrm>
            <a:off x="4343400" y="5138928"/>
            <a:ext cx="3575304" cy="1051560"/>
          </a:xfrm>
          <a:prstGeom prst="roundRect">
            <a:avLst>
              <a:gd fmla="val 8696" name="adj"/>
            </a:avLst>
          </a:prstGeom>
          <a:solidFill>
            <a:srgbClr val="FFF0E8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3"/>
          <p:cNvSpPr/>
          <p:nvPr/>
        </p:nvSpPr>
        <p:spPr>
          <a:xfrm>
            <a:off x="4581144" y="5248656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4F00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C84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결제 후 활성화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3"/>
          <p:cNvSpPr/>
          <p:nvPr/>
        </p:nvSpPr>
        <p:spPr>
          <a:xfrm>
            <a:off x="4590288" y="5513832"/>
            <a:ext cx="3127248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이용권·PT·PT 체험은 서명만으로 ACTIVE가 되지 않는다. 결제 완료 후 시작일이 도래해야 ACTIVE로 전이하며, 이때 PT 잔여 횟수가 생성된다.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3"/>
          <p:cNvSpPr/>
          <p:nvPr/>
        </p:nvSpPr>
        <p:spPr>
          <a:xfrm>
            <a:off x="8138160" y="5138928"/>
            <a:ext cx="3575304" cy="1051560"/>
          </a:xfrm>
          <a:prstGeom prst="roundRect">
            <a:avLst>
              <a:gd fmla="val 8696" name="adj"/>
            </a:avLst>
          </a:prstGeom>
          <a:solidFill>
            <a:srgbClr val="F0FDF4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3"/>
          <p:cNvSpPr/>
          <p:nvPr/>
        </p:nvSpPr>
        <p:spPr>
          <a:xfrm>
            <a:off x="8375904" y="5248656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1580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중복·병행 규칙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3"/>
          <p:cNvSpPr/>
          <p:nvPr/>
        </p:nvSpPr>
        <p:spPr>
          <a:xfrm>
            <a:off x="8385048" y="5513832"/>
            <a:ext cx="3127248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이용권(3)과 PT(4)는 동시에 유효할 수 없고, PT 체험(5)은 기본 계약과 병행 가능하다. 교체 갱신은 이전 계약과 연결해 이력을 남긴다.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4"/>
          <p:cNvSpPr/>
          <p:nvPr/>
        </p:nvSpPr>
        <p:spPr>
          <a:xfrm>
            <a:off x="566928" y="402336"/>
            <a:ext cx="118872" cy="118872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4"/>
          <p:cNvSpPr/>
          <p:nvPr/>
        </p:nvSpPr>
        <p:spPr>
          <a:xfrm>
            <a:off x="777240" y="32918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4F00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C84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04 · FEATURE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4"/>
          <p:cNvSpPr/>
          <p:nvPr/>
        </p:nvSpPr>
        <p:spPr>
          <a:xfrm>
            <a:off x="548640" y="658368"/>
            <a:ext cx="10424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기능 ② 결제 · 정산 · 물품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4"/>
          <p:cNvSpPr/>
          <p:nvPr/>
        </p:nvSpPr>
        <p:spPr>
          <a:xfrm>
            <a:off x="576072" y="1225296"/>
            <a:ext cx="10424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돈이 흐르는 세 축 — 매출은 계약에서, 지출은 임금·커미션·물품에서 나온다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4"/>
          <p:cNvSpPr/>
          <p:nvPr/>
        </p:nvSpPr>
        <p:spPr>
          <a:xfrm>
            <a:off x="11247120" y="626364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A3A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12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4"/>
          <p:cNvSpPr/>
          <p:nvPr/>
        </p:nvSpPr>
        <p:spPr>
          <a:xfrm>
            <a:off x="548640" y="1783080"/>
            <a:ext cx="11073384" cy="1572768"/>
          </a:xfrm>
          <a:prstGeom prst="roundRect">
            <a:avLst>
              <a:gd fmla="val 6977" name="adj"/>
            </a:avLst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4"/>
          <p:cNvSpPr/>
          <p:nvPr/>
        </p:nvSpPr>
        <p:spPr>
          <a:xfrm>
            <a:off x="841248" y="1920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현장 결제 checkout — 5단계 단일 트랜잭션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4"/>
          <p:cNvSpPr/>
          <p:nvPr/>
        </p:nvSpPr>
        <p:spPr>
          <a:xfrm>
            <a:off x="6035040" y="1920240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결제 확정 주체는 회원이 아니라 사장님(sender), 기록 대상은 회원(receiver)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4"/>
          <p:cNvSpPr/>
          <p:nvPr/>
        </p:nvSpPr>
        <p:spPr>
          <a:xfrm>
            <a:off x="841248" y="2286000"/>
            <a:ext cx="1828800" cy="868680"/>
          </a:xfrm>
          <a:prstGeom prst="roundRect">
            <a:avLst>
              <a:gd fmla="val 10526" name="adj"/>
            </a:avLst>
          </a:prstGeom>
          <a:solidFill>
            <a:srgbClr val="FAFAF8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4"/>
          <p:cNvSpPr/>
          <p:nvPr/>
        </p:nvSpPr>
        <p:spPr>
          <a:xfrm>
            <a:off x="914400" y="2286000"/>
            <a:ext cx="1682496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계약 검증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본인 발행 · 서명완료 · 미결제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9" name="Google Shape;519;p14"/>
          <p:cNvCxnSpPr/>
          <p:nvPr/>
        </p:nvCxnSpPr>
        <p:spPr>
          <a:xfrm>
            <a:off x="2688336" y="2715768"/>
            <a:ext cx="292608" cy="0"/>
          </a:xfrm>
          <a:prstGeom prst="straightConnector1">
            <a:avLst/>
          </a:prstGeom>
          <a:noFill/>
          <a:ln cap="flat" cmpd="sng" w="19050">
            <a:solidFill>
              <a:srgbClr val="FF6B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20" name="Google Shape;520;p14"/>
          <p:cNvSpPr/>
          <p:nvPr/>
        </p:nvSpPr>
        <p:spPr>
          <a:xfrm>
            <a:off x="2999232" y="2286000"/>
            <a:ext cx="1828800" cy="868680"/>
          </a:xfrm>
          <a:prstGeom prst="roundRect">
            <a:avLst>
              <a:gd fmla="val 10526" name="adj"/>
            </a:avLst>
          </a:prstGeom>
          <a:solidFill>
            <a:srgbClr val="FAFAF8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4"/>
          <p:cNvSpPr/>
          <p:nvPr/>
        </p:nvSpPr>
        <p:spPr>
          <a:xfrm>
            <a:off x="3072384" y="2286000"/>
            <a:ext cx="1682496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쿠폰 검증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카테고리 일치 · 할인 상한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2" name="Google Shape;522;p14"/>
          <p:cNvCxnSpPr/>
          <p:nvPr/>
        </p:nvCxnSpPr>
        <p:spPr>
          <a:xfrm>
            <a:off x="4846320" y="2715768"/>
            <a:ext cx="292608" cy="0"/>
          </a:xfrm>
          <a:prstGeom prst="straightConnector1">
            <a:avLst/>
          </a:prstGeom>
          <a:noFill/>
          <a:ln cap="flat" cmpd="sng" w="19050">
            <a:solidFill>
              <a:srgbClr val="FF6B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23" name="Google Shape;523;p14"/>
          <p:cNvSpPr/>
          <p:nvPr/>
        </p:nvSpPr>
        <p:spPr>
          <a:xfrm>
            <a:off x="5157216" y="2286000"/>
            <a:ext cx="1828800" cy="868680"/>
          </a:xfrm>
          <a:prstGeom prst="roundRect">
            <a:avLst>
              <a:gd fmla="val 10526" name="adj"/>
            </a:avLst>
          </a:prstGeom>
          <a:solidFill>
            <a:srgbClr val="FAFAF8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4"/>
          <p:cNvSpPr/>
          <p:nvPr/>
        </p:nvSpPr>
        <p:spPr>
          <a:xfrm>
            <a:off x="5230368" y="2286000"/>
            <a:ext cx="1682496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결제 기록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결제 상세 저장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5" name="Google Shape;525;p14"/>
          <p:cNvCxnSpPr/>
          <p:nvPr/>
        </p:nvCxnSpPr>
        <p:spPr>
          <a:xfrm>
            <a:off x="7004304" y="2715768"/>
            <a:ext cx="292608" cy="0"/>
          </a:xfrm>
          <a:prstGeom prst="straightConnector1">
            <a:avLst/>
          </a:prstGeom>
          <a:noFill/>
          <a:ln cap="flat" cmpd="sng" w="19050">
            <a:solidFill>
              <a:srgbClr val="FF6B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26" name="Google Shape;526;p14"/>
          <p:cNvSpPr/>
          <p:nvPr/>
        </p:nvSpPr>
        <p:spPr>
          <a:xfrm>
            <a:off x="7315200" y="2286000"/>
            <a:ext cx="1828800" cy="868680"/>
          </a:xfrm>
          <a:prstGeom prst="roundRect">
            <a:avLst>
              <a:gd fmla="val 10526" name="adj"/>
            </a:avLst>
          </a:prstGeom>
          <a:solidFill>
            <a:srgbClr val="FAFAF8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4"/>
          <p:cNvSpPr/>
          <p:nvPr/>
        </p:nvSpPr>
        <p:spPr>
          <a:xfrm>
            <a:off x="7388352" y="2286000"/>
            <a:ext cx="1682496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쿠폰 사용완료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상태 갱신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8" name="Google Shape;528;p14"/>
          <p:cNvCxnSpPr/>
          <p:nvPr/>
        </p:nvCxnSpPr>
        <p:spPr>
          <a:xfrm>
            <a:off x="9162288" y="2715768"/>
            <a:ext cx="292608" cy="0"/>
          </a:xfrm>
          <a:prstGeom prst="straightConnector1">
            <a:avLst/>
          </a:prstGeom>
          <a:noFill/>
          <a:ln cap="flat" cmpd="sng" w="19050">
            <a:solidFill>
              <a:srgbClr val="FF6B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29" name="Google Shape;529;p14"/>
          <p:cNvSpPr/>
          <p:nvPr/>
        </p:nvSpPr>
        <p:spPr>
          <a:xfrm>
            <a:off x="9473184" y="2286000"/>
            <a:ext cx="1828800" cy="868680"/>
          </a:xfrm>
          <a:prstGeom prst="roundRect">
            <a:avLst>
              <a:gd fmla="val 10526" name="adj"/>
            </a:avLst>
          </a:prstGeom>
          <a:solidFill>
            <a:srgbClr val="FAFAF8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4"/>
          <p:cNvSpPr/>
          <p:nvPr/>
        </p:nvSpPr>
        <p:spPr>
          <a:xfrm>
            <a:off x="9546336" y="2286000"/>
            <a:ext cx="1682496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매출 반영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매출 내역 저장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4"/>
          <p:cNvSpPr/>
          <p:nvPr/>
        </p:nvSpPr>
        <p:spPr>
          <a:xfrm>
            <a:off x="548640" y="3538728"/>
            <a:ext cx="3575304" cy="2587752"/>
          </a:xfrm>
          <a:prstGeom prst="roundRect">
            <a:avLst>
              <a:gd fmla="val 4240" name="adj"/>
            </a:avLst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4"/>
          <p:cNvSpPr/>
          <p:nvPr/>
        </p:nvSpPr>
        <p:spPr>
          <a:xfrm>
            <a:off x="804672" y="3730752"/>
            <a:ext cx="1417320" cy="292608"/>
          </a:xfrm>
          <a:prstGeom prst="roundRect">
            <a:avLst>
              <a:gd fmla="val 50000" name="adj"/>
            </a:avLst>
          </a:prstGeom>
          <a:solidFill>
            <a:srgbClr val="FFF0E8"/>
          </a:solidFill>
          <a:ln cap="flat" cmpd="sng" w="12700">
            <a:solidFill>
              <a:srgbClr val="FFF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4"/>
          <p:cNvSpPr/>
          <p:nvPr/>
        </p:nvSpPr>
        <p:spPr>
          <a:xfrm>
            <a:off x="804672" y="3730752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FF6B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정산 (settle)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4"/>
          <p:cNvSpPr/>
          <p:nvPr/>
        </p:nvSpPr>
        <p:spPr>
          <a:xfrm>
            <a:off x="813816" y="4151376"/>
            <a:ext cx="30632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Char char="•"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관리자 커미션: 제휴 계약의 수수료율 기준 월별 자동 생성 배치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Char char="•"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지점 지출: 임금·커미션·물품 구매를 운영 지출로 통합 관리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Char char="•"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요약 카드는 CASE 조건부 집계로 한 번의 스캔에서 산출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Char char="•"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지급 완료 정산의 매출 삭제 시 재계산 경고 알림 발송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4"/>
          <p:cNvSpPr/>
          <p:nvPr/>
        </p:nvSpPr>
        <p:spPr>
          <a:xfrm>
            <a:off x="4343400" y="3538728"/>
            <a:ext cx="3575304" cy="2587752"/>
          </a:xfrm>
          <a:prstGeom prst="roundRect">
            <a:avLst>
              <a:gd fmla="val 4240" name="adj"/>
            </a:avLst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14"/>
          <p:cNvSpPr/>
          <p:nvPr/>
        </p:nvSpPr>
        <p:spPr>
          <a:xfrm>
            <a:off x="4599432" y="3730752"/>
            <a:ext cx="1417320" cy="292608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4"/>
          <p:cNvSpPr/>
          <p:nvPr/>
        </p:nvSpPr>
        <p:spPr>
          <a:xfrm>
            <a:off x="4599432" y="3730752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Malgun Gothic"/>
                <a:ea typeface="Malgun Gothic"/>
                <a:cs typeface="Malgun Gothic"/>
                <a:sym typeface="Malgun Gothic"/>
              </a:rPr>
              <a:t>물품 (item)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4"/>
          <p:cNvSpPr/>
          <p:nvPr/>
        </p:nvSpPr>
        <p:spPr>
          <a:xfrm>
            <a:off x="4608576" y="4151376"/>
            <a:ext cx="30632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Char char="•"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구매 건 단위로 적재하고 물품명·카테고리 그룹으로 재고 집계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Char char="•"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재고 0 물품은 목록에서 제외 (list·count·CSV 3개 쿼리 동시 적용)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Char char="•"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등록 시 지출 자동 연동 — 물품비가 정산에 그대로 반영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Char char="•"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카테고리 필터 · 4방향 정렬 · CSV 내보내기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4"/>
          <p:cNvSpPr/>
          <p:nvPr/>
        </p:nvSpPr>
        <p:spPr>
          <a:xfrm>
            <a:off x="8138160" y="3538728"/>
            <a:ext cx="3575304" cy="2587752"/>
          </a:xfrm>
          <a:prstGeom prst="roundRect">
            <a:avLst>
              <a:gd fmla="val 4240" name="adj"/>
            </a:avLst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4"/>
          <p:cNvSpPr/>
          <p:nvPr/>
        </p:nvSpPr>
        <p:spPr>
          <a:xfrm>
            <a:off x="8394192" y="3730752"/>
            <a:ext cx="1417320" cy="292608"/>
          </a:xfrm>
          <a:prstGeom prst="roundRect">
            <a:avLst>
              <a:gd fmla="val 50000" name="adj"/>
            </a:avLst>
          </a:prstGeom>
          <a:solidFill>
            <a:srgbClr val="F3E8FF"/>
          </a:solidFill>
          <a:ln cap="flat" cmpd="sng" w="12700">
            <a:solidFill>
              <a:srgbClr val="F3E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14"/>
          <p:cNvSpPr/>
          <p:nvPr/>
        </p:nvSpPr>
        <p:spPr>
          <a:xfrm>
            <a:off x="8394192" y="3730752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7C3AED"/>
                </a:solidFill>
                <a:latin typeface="Malgun Gothic"/>
                <a:ea typeface="Malgun Gothic"/>
                <a:cs typeface="Malgun Gothic"/>
                <a:sym typeface="Malgun Gothic"/>
              </a:rPr>
              <a:t>쿠폰 연동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4"/>
          <p:cNvSpPr/>
          <p:nvPr/>
        </p:nvSpPr>
        <p:spPr>
          <a:xfrm>
            <a:off x="8403336" y="4151376"/>
            <a:ext cx="30632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Char char="•"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카테고리별 적용 계약 검증 — 헬스→이용권(3), PT·체험권→PT(4)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Char char="•"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최대 할인 금액 상한 적용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Char char="•"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체험권 100% 할인으로 0원이면 할부가 무의미해 일시불 강제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Char char="•"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0원 결제도 결제 플로우를 거치게 해 매출 기록을 일원화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15"/>
          <p:cNvSpPr/>
          <p:nvPr/>
        </p:nvSpPr>
        <p:spPr>
          <a:xfrm>
            <a:off x="566928" y="402336"/>
            <a:ext cx="118872" cy="118872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5"/>
          <p:cNvSpPr/>
          <p:nvPr/>
        </p:nvSpPr>
        <p:spPr>
          <a:xfrm>
            <a:off x="777240" y="32918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4F00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C84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04 · FEATURE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5"/>
          <p:cNvSpPr/>
          <p:nvPr/>
        </p:nvSpPr>
        <p:spPr>
          <a:xfrm>
            <a:off x="548640" y="658368"/>
            <a:ext cx="10424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기능 ③ 출석 · PT 관리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5"/>
          <p:cNvSpPr/>
          <p:nvPr/>
        </p:nvSpPr>
        <p:spPr>
          <a:xfrm>
            <a:off x="576072" y="1225296"/>
            <a:ext cx="10424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무로그인 키오스크부터 역할별 관리 화면까지 — PT 차감은 독자 원장에서만 수행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5"/>
          <p:cNvSpPr/>
          <p:nvPr/>
        </p:nvSpPr>
        <p:spPr>
          <a:xfrm>
            <a:off x="11247120" y="626364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A3A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13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5"/>
          <p:cNvSpPr/>
          <p:nvPr/>
        </p:nvSpPr>
        <p:spPr>
          <a:xfrm>
            <a:off x="548640" y="1783080"/>
            <a:ext cx="5394960" cy="2148840"/>
          </a:xfrm>
          <a:prstGeom prst="roundRect">
            <a:avLst>
              <a:gd fmla="val 5106" name="adj"/>
            </a:avLst>
          </a:prstGeom>
          <a:solidFill>
            <a:srgbClr val="FAFAF8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5"/>
          <p:cNvSpPr/>
          <p:nvPr/>
        </p:nvSpPr>
        <p:spPr>
          <a:xfrm>
            <a:off x="822960" y="192024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출석 키오스크  /fitc/attendance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5"/>
          <p:cNvSpPr/>
          <p:nvPr/>
        </p:nvSpPr>
        <p:spPr>
          <a:xfrm>
            <a:off x="832104" y="2231136"/>
            <a:ext cx="4892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헬스장 입구 공용 태블릿 용도로 로그인 레이아웃과 분리한 단독 라우트. 전화번호+비밀번호로 본인 확인 후 7초 뒤 자동 리셋된다.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5"/>
          <p:cNvSpPr/>
          <p:nvPr/>
        </p:nvSpPr>
        <p:spPr>
          <a:xfrm>
            <a:off x="822960" y="2852928"/>
            <a:ext cx="1170432" cy="384048"/>
          </a:xfrm>
          <a:prstGeom prst="roundRect">
            <a:avLst>
              <a:gd fmla="val 21429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5"/>
          <p:cNvSpPr/>
          <p:nvPr/>
        </p:nvSpPr>
        <p:spPr>
          <a:xfrm>
            <a:off x="822960" y="2852928"/>
            <a:ext cx="11704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0284C7"/>
                </a:solidFill>
                <a:latin typeface="Malgun Gothic"/>
                <a:ea typeface="Malgun Gothic"/>
                <a:cs typeface="Malgun Gothic"/>
                <a:sym typeface="Malgun Gothic"/>
              </a:rPr>
              <a:t>헬스장 출석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5"/>
          <p:cNvSpPr/>
          <p:nvPr/>
        </p:nvSpPr>
        <p:spPr>
          <a:xfrm>
            <a:off x="2103120" y="2852928"/>
            <a:ext cx="3611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유효한 이용권(3) 또는 PT(4) 계약 필요 · 하루 1회 제한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5"/>
          <p:cNvSpPr/>
          <p:nvPr/>
        </p:nvSpPr>
        <p:spPr>
          <a:xfrm>
            <a:off x="822960" y="3355848"/>
            <a:ext cx="1170432" cy="384048"/>
          </a:xfrm>
          <a:prstGeom prst="roundRect">
            <a:avLst>
              <a:gd fmla="val 21429" name="adj"/>
            </a:avLst>
          </a:prstGeom>
          <a:solidFill>
            <a:srgbClr val="F3E8FF"/>
          </a:solidFill>
          <a:ln cap="flat" cmpd="sng" w="12700">
            <a:solidFill>
              <a:srgbClr val="F3E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5"/>
          <p:cNvSpPr/>
          <p:nvPr/>
        </p:nvSpPr>
        <p:spPr>
          <a:xfrm>
            <a:off x="822960" y="3355848"/>
            <a:ext cx="11704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7C3AED"/>
                </a:solidFill>
                <a:latin typeface="Malgun Gothic"/>
                <a:ea typeface="Malgun Gothic"/>
                <a:cs typeface="Malgun Gothic"/>
                <a:sym typeface="Malgun Gothic"/>
              </a:rPr>
              <a:t>PT 출석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5"/>
          <p:cNvSpPr/>
          <p:nvPr/>
        </p:nvSpPr>
        <p:spPr>
          <a:xfrm>
            <a:off x="2103120" y="3355848"/>
            <a:ext cx="3611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미확인 상태로 접수만 — 차감은 트레이너 확인 시점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5"/>
          <p:cNvSpPr/>
          <p:nvPr/>
        </p:nvSpPr>
        <p:spPr>
          <a:xfrm>
            <a:off x="6227064" y="1783080"/>
            <a:ext cx="5394960" cy="2148840"/>
          </a:xfrm>
          <a:prstGeom prst="roundRect">
            <a:avLst>
              <a:gd fmla="val 5106" name="adj"/>
            </a:avLst>
          </a:prstGeom>
          <a:solidFill>
            <a:srgbClr val="171717"/>
          </a:solidFill>
          <a:ln cap="flat" cmpd="sng" w="12700">
            <a:solidFill>
              <a:srgbClr val="17171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15"/>
          <p:cNvSpPr/>
          <p:nvPr/>
        </p:nvSpPr>
        <p:spPr>
          <a:xfrm>
            <a:off x="6501384" y="192024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FF6B00"/>
                </a:solidFill>
                <a:latin typeface="Malgun Gothic"/>
                <a:ea typeface="Malgun Gothic"/>
                <a:cs typeface="Malgun Gothic"/>
                <a:sym typeface="Malgun Gothic"/>
              </a:rPr>
              <a:t>PT 차감 — 비동기 2단 확인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5"/>
          <p:cNvSpPr/>
          <p:nvPr/>
        </p:nvSpPr>
        <p:spPr>
          <a:xfrm>
            <a:off x="6501384" y="2249424"/>
            <a:ext cx="1051560" cy="347472"/>
          </a:xfrm>
          <a:prstGeom prst="roundRect">
            <a:avLst>
              <a:gd fmla="val 23684" name="adj"/>
            </a:avLst>
          </a:prstGeom>
          <a:solidFill>
            <a:srgbClr val="2A2A2A"/>
          </a:solidFill>
          <a:ln cap="flat" cmpd="sng" w="12700">
            <a:solidFill>
              <a:srgbClr val="3A3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15"/>
          <p:cNvSpPr/>
          <p:nvPr/>
        </p:nvSpPr>
        <p:spPr>
          <a:xfrm>
            <a:off x="6501384" y="2249424"/>
            <a:ext cx="1051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FF6B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회원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5"/>
          <p:cNvSpPr/>
          <p:nvPr/>
        </p:nvSpPr>
        <p:spPr>
          <a:xfrm>
            <a:off x="7680960" y="2249424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키오스크에서 PT 출석 접수 (미확인)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5"/>
          <p:cNvSpPr/>
          <p:nvPr/>
        </p:nvSpPr>
        <p:spPr>
          <a:xfrm>
            <a:off x="6501384" y="2670048"/>
            <a:ext cx="1051560" cy="347472"/>
          </a:xfrm>
          <a:prstGeom prst="roundRect">
            <a:avLst>
              <a:gd fmla="val 23684" name="adj"/>
            </a:avLst>
          </a:prstGeom>
          <a:solidFill>
            <a:srgbClr val="2A2A2A"/>
          </a:solidFill>
          <a:ln cap="flat" cmpd="sng" w="12700">
            <a:solidFill>
              <a:srgbClr val="3A3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15"/>
          <p:cNvSpPr/>
          <p:nvPr/>
        </p:nvSpPr>
        <p:spPr>
          <a:xfrm>
            <a:off x="6501384" y="2670048"/>
            <a:ext cx="1051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FF6B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트레이너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5"/>
          <p:cNvSpPr/>
          <p:nvPr/>
        </p:nvSpPr>
        <p:spPr>
          <a:xfrm>
            <a:off x="7680960" y="2670048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당일 목록에서 확인 → 사용 횟수 +1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5"/>
          <p:cNvSpPr/>
          <p:nvPr/>
        </p:nvSpPr>
        <p:spPr>
          <a:xfrm>
            <a:off x="6501384" y="3090672"/>
            <a:ext cx="1051560" cy="347472"/>
          </a:xfrm>
          <a:prstGeom prst="roundRect">
            <a:avLst>
              <a:gd fmla="val 23684" name="adj"/>
            </a:avLst>
          </a:prstGeom>
          <a:solidFill>
            <a:srgbClr val="2A2A2A"/>
          </a:solidFill>
          <a:ln cap="flat" cmpd="sng" w="12700">
            <a:solidFill>
              <a:srgbClr val="3A3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15"/>
          <p:cNvSpPr/>
          <p:nvPr/>
        </p:nvSpPr>
        <p:spPr>
          <a:xfrm>
            <a:off x="6501384" y="3090672"/>
            <a:ext cx="1051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FF6B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5"/>
          <p:cNvSpPr/>
          <p:nvPr/>
        </p:nvSpPr>
        <p:spPr>
          <a:xfrm>
            <a:off x="7680960" y="3090672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총 횟수 도달 시 completed = true 자동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5"/>
          <p:cNvSpPr/>
          <p:nvPr/>
        </p:nvSpPr>
        <p:spPr>
          <a:xfrm>
            <a:off x="6510528" y="3547872"/>
            <a:ext cx="4892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9E9E9E"/>
                </a:solidFill>
                <a:latin typeface="Malgun Gothic"/>
                <a:ea typeface="Malgun Gothic"/>
                <a:cs typeface="Malgun Gothic"/>
                <a:sym typeface="Malgun Gothic"/>
              </a:rPr>
              <a:t>잔여 = 총 횟수 − 사용 횟수  (저장값이 아닌 계산식)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5"/>
          <p:cNvSpPr/>
          <p:nvPr/>
        </p:nvSpPr>
        <p:spPr>
          <a:xfrm>
            <a:off x="548640" y="4133088"/>
            <a:ext cx="3575304" cy="1170432"/>
          </a:xfrm>
          <a:prstGeom prst="roundRect">
            <a:avLst>
              <a:gd fmla="val 7813" name="adj"/>
            </a:avLst>
          </a:prstGeom>
          <a:solidFill>
            <a:srgbClr val="F3E8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5"/>
          <p:cNvSpPr/>
          <p:nvPr/>
        </p:nvSpPr>
        <p:spPr>
          <a:xfrm>
            <a:off x="786384" y="4242816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7C3AED"/>
                </a:solidFill>
                <a:latin typeface="Malgun Gothic"/>
                <a:ea typeface="Malgun Gothic"/>
                <a:cs typeface="Malgun Gothic"/>
                <a:sym typeface="Malgun Gothic"/>
              </a:rPr>
              <a:t>트레이너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5"/>
          <p:cNvSpPr/>
          <p:nvPr/>
        </p:nvSpPr>
        <p:spPr>
          <a:xfrm>
            <a:off x="795528" y="4517136"/>
            <a:ext cx="3127248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출석 확인 · 담당 회원 현황(진행 바·잔여·경과일)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월간 실적 카드 · 일정 캘린더 · 회원 상세 드릴다운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5"/>
          <p:cNvSpPr/>
          <p:nvPr/>
        </p:nvSpPr>
        <p:spPr>
          <a:xfrm>
            <a:off x="4343400" y="4133088"/>
            <a:ext cx="3575304" cy="1170432"/>
          </a:xfrm>
          <a:prstGeom prst="roundRect">
            <a:avLst>
              <a:gd fmla="val 7813" name="adj"/>
            </a:avLst>
          </a:prstGeom>
          <a:solidFill>
            <a:srgbClr val="FFF0E8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15"/>
          <p:cNvSpPr/>
          <p:nvPr/>
        </p:nvSpPr>
        <p:spPr>
          <a:xfrm>
            <a:off x="4581144" y="4242816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F6B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사장님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5"/>
          <p:cNvSpPr/>
          <p:nvPr/>
        </p:nvSpPr>
        <p:spPr>
          <a:xfrm>
            <a:off x="4590288" y="4517136"/>
            <a:ext cx="3127248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트레이너별 성과 보드(수행률 색 구분) · 재등록 임박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회원(PT 잔여 3회 이하 + 이용권 7일 이내) · 지점 일정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5"/>
          <p:cNvSpPr/>
          <p:nvPr/>
        </p:nvSpPr>
        <p:spPr>
          <a:xfrm>
            <a:off x="8138160" y="4133088"/>
            <a:ext cx="3575304" cy="1170432"/>
          </a:xfrm>
          <a:prstGeom prst="roundRect">
            <a:avLst>
              <a:gd fmla="val 7813" name="adj"/>
            </a:avLst>
          </a:prstGeom>
          <a:solidFill>
            <a:srgbClr val="F5F5F5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15"/>
          <p:cNvSpPr/>
          <p:nvPr/>
        </p:nvSpPr>
        <p:spPr>
          <a:xfrm>
            <a:off x="8375904" y="4242816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관리자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5"/>
          <p:cNvSpPr/>
          <p:nvPr/>
        </p:nvSpPr>
        <p:spPr>
          <a:xfrm>
            <a:off x="8385048" y="4517136"/>
            <a:ext cx="3127248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매장 내부 운영은 열람하지 않고 제휴 계약 기간·만료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관리에 집중 — D-day 4단계 색상 구분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5"/>
          <p:cNvSpPr/>
          <p:nvPr/>
        </p:nvSpPr>
        <p:spPr>
          <a:xfrm>
            <a:off x="548640" y="5468112"/>
            <a:ext cx="11073384" cy="658368"/>
          </a:xfrm>
          <a:prstGeom prst="roundRect">
            <a:avLst>
              <a:gd fmla="val 13889" name="adj"/>
            </a:avLst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5"/>
          <p:cNvSpPr/>
          <p:nvPr/>
        </p:nvSpPr>
        <p:spPr>
          <a:xfrm>
            <a:off x="841248" y="5468112"/>
            <a:ext cx="10515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알림 3종 연동   </a:t>
            </a:r>
            <a:r>
              <a:rPr b="0" i="0" lang="en-US" sz="11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PT_CHECKIN(접수 즉시 → 담당 트레이너) · PT_REMIND(매일 20시 배치, 내일 일정 → 회원+트레이너) · PT_REBOOK(잔여 3회 도달 → 트레이너+사장님). 알림 실패가 본 트랜잭션을 롤백시키지 않도록 try/catch로 격리했다.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16"/>
          <p:cNvSpPr/>
          <p:nvPr/>
        </p:nvSpPr>
        <p:spPr>
          <a:xfrm>
            <a:off x="566928" y="402336"/>
            <a:ext cx="118872" cy="118872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16"/>
          <p:cNvSpPr/>
          <p:nvPr/>
        </p:nvSpPr>
        <p:spPr>
          <a:xfrm>
            <a:off x="777240" y="32918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4F00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C84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04 · FEATURE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6"/>
          <p:cNvSpPr/>
          <p:nvPr/>
        </p:nvSpPr>
        <p:spPr>
          <a:xfrm>
            <a:off x="548640" y="658368"/>
            <a:ext cx="10424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기능 ④ 회원 이탈 예측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6"/>
          <p:cNvSpPr/>
          <p:nvPr/>
        </p:nvSpPr>
        <p:spPr>
          <a:xfrm>
            <a:off x="576072" y="1225296"/>
            <a:ext cx="10424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행동 데이터 8종 + 설문 8종 = 16개 피처로 이탈 확률과 원인을 함께 제시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6"/>
          <p:cNvSpPr/>
          <p:nvPr/>
        </p:nvSpPr>
        <p:spPr>
          <a:xfrm>
            <a:off x="11247120" y="626364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A3A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14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6"/>
          <p:cNvSpPr/>
          <p:nvPr/>
        </p:nvSpPr>
        <p:spPr>
          <a:xfrm>
            <a:off x="548640" y="1810512"/>
            <a:ext cx="7040880" cy="804672"/>
          </a:xfrm>
          <a:prstGeom prst="roundRect">
            <a:avLst>
              <a:gd fmla="val 11364" name="adj"/>
            </a:avLst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16"/>
          <p:cNvSpPr/>
          <p:nvPr/>
        </p:nvSpPr>
        <p:spPr>
          <a:xfrm>
            <a:off x="768096" y="1993392"/>
            <a:ext cx="438912" cy="438912"/>
          </a:xfrm>
          <a:prstGeom prst="roundRect">
            <a:avLst>
              <a:gd fmla="val 1875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16"/>
          <p:cNvSpPr/>
          <p:nvPr/>
        </p:nvSpPr>
        <p:spPr>
          <a:xfrm>
            <a:off x="768096" y="1993392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6"/>
          <p:cNvSpPr/>
          <p:nvPr/>
        </p:nvSpPr>
        <p:spPr>
          <a:xfrm>
            <a:off x="1371600" y="1911096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수집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6"/>
          <p:cNvSpPr/>
          <p:nvPr/>
        </p:nvSpPr>
        <p:spPr>
          <a:xfrm>
            <a:off x="3063240" y="1929384"/>
            <a:ext cx="4343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행동 데이터 — 나이·이용개월·주당 방문·운동시간·PT 여부·혼잡도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만족도 설문 — 서비스·가격·기구·직원 1~5점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6"/>
          <p:cNvSpPr/>
          <p:nvPr/>
        </p:nvSpPr>
        <p:spPr>
          <a:xfrm>
            <a:off x="859536" y="2578608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D4D4D4"/>
                </a:solidFill>
                <a:latin typeface="Malgun Gothic"/>
                <a:ea typeface="Malgun Gothic"/>
                <a:cs typeface="Malgun Gothic"/>
                <a:sym typeface="Malgun Gothic"/>
              </a:rPr>
              <a:t>▼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6"/>
          <p:cNvSpPr/>
          <p:nvPr/>
        </p:nvSpPr>
        <p:spPr>
          <a:xfrm>
            <a:off x="548640" y="2743200"/>
            <a:ext cx="7040880" cy="804672"/>
          </a:xfrm>
          <a:prstGeom prst="roundRect">
            <a:avLst>
              <a:gd fmla="val 11364" name="adj"/>
            </a:avLst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16"/>
          <p:cNvSpPr/>
          <p:nvPr/>
        </p:nvSpPr>
        <p:spPr>
          <a:xfrm>
            <a:off x="768096" y="2926080"/>
            <a:ext cx="438912" cy="438912"/>
          </a:xfrm>
          <a:prstGeom prst="roundRect">
            <a:avLst>
              <a:gd fmla="val 18750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16"/>
          <p:cNvSpPr/>
          <p:nvPr/>
        </p:nvSpPr>
        <p:spPr>
          <a:xfrm>
            <a:off x="768096" y="292608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6"/>
          <p:cNvSpPr/>
          <p:nvPr/>
        </p:nvSpPr>
        <p:spPr>
          <a:xfrm>
            <a:off x="1371600" y="2843784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 추론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6"/>
          <p:cNvSpPr/>
          <p:nvPr/>
        </p:nvSpPr>
        <p:spPr>
          <a:xfrm>
            <a:off x="3063240" y="2862072"/>
            <a:ext cx="4343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joblib 번들에서 XGBoost 모델 로드 → 이탈 확률 산출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보정(calibration) 모델로 확률값 캘리브레이션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6"/>
          <p:cNvSpPr/>
          <p:nvPr/>
        </p:nvSpPr>
        <p:spPr>
          <a:xfrm>
            <a:off x="859536" y="3511296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D4D4D4"/>
                </a:solidFill>
                <a:latin typeface="Malgun Gothic"/>
                <a:ea typeface="Malgun Gothic"/>
                <a:cs typeface="Malgun Gothic"/>
                <a:sym typeface="Malgun Gothic"/>
              </a:rPr>
              <a:t>▼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6"/>
          <p:cNvSpPr/>
          <p:nvPr/>
        </p:nvSpPr>
        <p:spPr>
          <a:xfrm>
            <a:off x="548640" y="3675888"/>
            <a:ext cx="7040880" cy="804672"/>
          </a:xfrm>
          <a:prstGeom prst="roundRect">
            <a:avLst>
              <a:gd fmla="val 11364" name="adj"/>
            </a:avLst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6"/>
          <p:cNvSpPr/>
          <p:nvPr/>
        </p:nvSpPr>
        <p:spPr>
          <a:xfrm>
            <a:off x="768096" y="3858768"/>
            <a:ext cx="438912" cy="438912"/>
          </a:xfrm>
          <a:prstGeom prst="roundRect">
            <a:avLst>
              <a:gd fmla="val 18750" name="adj"/>
            </a:avLst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16"/>
          <p:cNvSpPr/>
          <p:nvPr/>
        </p:nvSpPr>
        <p:spPr>
          <a:xfrm>
            <a:off x="768096" y="3858768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6"/>
          <p:cNvSpPr/>
          <p:nvPr/>
        </p:nvSpPr>
        <p:spPr>
          <a:xfrm>
            <a:off x="1371600" y="377647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요인 추출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6"/>
          <p:cNvSpPr/>
          <p:nvPr/>
        </p:nvSpPr>
        <p:spPr>
          <a:xfrm>
            <a:off x="3063240" y="3794760"/>
            <a:ext cx="4343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SHAP 값으로 개별 회원의 예측에 가장 크게 기여한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상위 3개 요인을 함께 저장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6"/>
          <p:cNvSpPr/>
          <p:nvPr/>
        </p:nvSpPr>
        <p:spPr>
          <a:xfrm>
            <a:off x="859536" y="4443984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D4D4D4"/>
                </a:solidFill>
                <a:latin typeface="Malgun Gothic"/>
                <a:ea typeface="Malgun Gothic"/>
                <a:cs typeface="Malgun Gothic"/>
                <a:sym typeface="Malgun Gothic"/>
              </a:rPr>
              <a:t>▼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6"/>
          <p:cNvSpPr/>
          <p:nvPr/>
        </p:nvSpPr>
        <p:spPr>
          <a:xfrm>
            <a:off x="548640" y="4608576"/>
            <a:ext cx="7040880" cy="804672"/>
          </a:xfrm>
          <a:prstGeom prst="roundRect">
            <a:avLst>
              <a:gd fmla="val 11364" name="adj"/>
            </a:avLst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16"/>
          <p:cNvSpPr/>
          <p:nvPr/>
        </p:nvSpPr>
        <p:spPr>
          <a:xfrm>
            <a:off x="768096" y="4791456"/>
            <a:ext cx="438912" cy="438912"/>
          </a:xfrm>
          <a:prstGeom prst="roundRect">
            <a:avLst>
              <a:gd fmla="val 18750" name="adj"/>
            </a:avLst>
          </a:prstGeom>
          <a:solidFill>
            <a:srgbClr val="1580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16"/>
          <p:cNvSpPr/>
          <p:nvPr/>
        </p:nvSpPr>
        <p:spPr>
          <a:xfrm>
            <a:off x="768096" y="4791456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6"/>
          <p:cNvSpPr/>
          <p:nvPr/>
        </p:nvSpPr>
        <p:spPr>
          <a:xfrm>
            <a:off x="1371600" y="470916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 적재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6"/>
          <p:cNvSpPr/>
          <p:nvPr/>
        </p:nvSpPr>
        <p:spPr>
          <a:xfrm>
            <a:off x="3063240" y="4727448"/>
            <a:ext cx="4343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 1회 배치(run_daily_batch.py)가 전 회원을 예측해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예측 결과 테이블에 일자별 이력으로 누적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6"/>
          <p:cNvSpPr/>
          <p:nvPr/>
        </p:nvSpPr>
        <p:spPr>
          <a:xfrm>
            <a:off x="7863840" y="1810512"/>
            <a:ext cx="3758184" cy="3584448"/>
          </a:xfrm>
          <a:prstGeom prst="roundRect">
            <a:avLst>
              <a:gd fmla="val 3061" name="adj"/>
            </a:avLst>
          </a:prstGeom>
          <a:solidFill>
            <a:srgbClr val="FAFAF8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16"/>
          <p:cNvSpPr/>
          <p:nvPr/>
        </p:nvSpPr>
        <p:spPr>
          <a:xfrm>
            <a:off x="8119872" y="1975104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위험 등급 (tier)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6"/>
          <p:cNvSpPr/>
          <p:nvPr/>
        </p:nvSpPr>
        <p:spPr>
          <a:xfrm>
            <a:off x="8129016" y="2249424"/>
            <a:ext cx="3200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확률 구간 25 / 45 / 65 를 경계로 4단계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6"/>
          <p:cNvSpPr/>
          <p:nvPr/>
        </p:nvSpPr>
        <p:spPr>
          <a:xfrm>
            <a:off x="8119872" y="2615184"/>
            <a:ext cx="3246120" cy="457200"/>
          </a:xfrm>
          <a:prstGeom prst="roundRect">
            <a:avLst>
              <a:gd fmla="val 18000" name="adj"/>
            </a:avLst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16"/>
          <p:cNvSpPr/>
          <p:nvPr/>
        </p:nvSpPr>
        <p:spPr>
          <a:xfrm>
            <a:off x="8302752" y="2770632"/>
            <a:ext cx="146304" cy="146304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16"/>
          <p:cNvSpPr/>
          <p:nvPr/>
        </p:nvSpPr>
        <p:spPr>
          <a:xfrm>
            <a:off x="8549640" y="2615184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안정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6"/>
          <p:cNvSpPr/>
          <p:nvPr/>
        </p:nvSpPr>
        <p:spPr>
          <a:xfrm>
            <a:off x="9692640" y="2615184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~25%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6"/>
          <p:cNvSpPr/>
          <p:nvPr/>
        </p:nvSpPr>
        <p:spPr>
          <a:xfrm>
            <a:off x="8119872" y="3182112"/>
            <a:ext cx="3246120" cy="457200"/>
          </a:xfrm>
          <a:prstGeom prst="roundRect">
            <a:avLst>
              <a:gd fmla="val 18000" name="adj"/>
            </a:avLst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16"/>
          <p:cNvSpPr/>
          <p:nvPr/>
        </p:nvSpPr>
        <p:spPr>
          <a:xfrm>
            <a:off x="8302752" y="3337560"/>
            <a:ext cx="146304" cy="146304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16"/>
          <p:cNvSpPr/>
          <p:nvPr/>
        </p:nvSpPr>
        <p:spPr>
          <a:xfrm>
            <a:off x="8549640" y="3182112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관찰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6"/>
          <p:cNvSpPr/>
          <p:nvPr/>
        </p:nvSpPr>
        <p:spPr>
          <a:xfrm>
            <a:off x="9692640" y="3182112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25~45%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6"/>
          <p:cNvSpPr/>
          <p:nvPr/>
        </p:nvSpPr>
        <p:spPr>
          <a:xfrm>
            <a:off x="8119872" y="3749040"/>
            <a:ext cx="3246120" cy="457200"/>
          </a:xfrm>
          <a:prstGeom prst="roundRect">
            <a:avLst>
              <a:gd fmla="val 18000" name="adj"/>
            </a:avLst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16"/>
          <p:cNvSpPr/>
          <p:nvPr/>
        </p:nvSpPr>
        <p:spPr>
          <a:xfrm>
            <a:off x="8302752" y="390448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16"/>
          <p:cNvSpPr/>
          <p:nvPr/>
        </p:nvSpPr>
        <p:spPr>
          <a:xfrm>
            <a:off x="8549640" y="374904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개입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6"/>
          <p:cNvSpPr/>
          <p:nvPr/>
        </p:nvSpPr>
        <p:spPr>
          <a:xfrm>
            <a:off x="9692640" y="374904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45~65%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6"/>
          <p:cNvSpPr/>
          <p:nvPr/>
        </p:nvSpPr>
        <p:spPr>
          <a:xfrm>
            <a:off x="8119872" y="4315968"/>
            <a:ext cx="3246120" cy="457200"/>
          </a:xfrm>
          <a:prstGeom prst="roundRect">
            <a:avLst>
              <a:gd fmla="val 18000" name="adj"/>
            </a:avLst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16"/>
          <p:cNvSpPr/>
          <p:nvPr/>
        </p:nvSpPr>
        <p:spPr>
          <a:xfrm>
            <a:off x="8302752" y="4471416"/>
            <a:ext cx="146304" cy="14630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16"/>
          <p:cNvSpPr/>
          <p:nvPr/>
        </p:nvSpPr>
        <p:spPr>
          <a:xfrm>
            <a:off x="8549640" y="4315968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긴급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16"/>
          <p:cNvSpPr/>
          <p:nvPr/>
        </p:nvSpPr>
        <p:spPr>
          <a:xfrm>
            <a:off x="9692640" y="4315968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65%~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6"/>
          <p:cNvSpPr/>
          <p:nvPr/>
        </p:nvSpPr>
        <p:spPr>
          <a:xfrm>
            <a:off x="8129016" y="4901184"/>
            <a:ext cx="3246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예측 결과는 대시보드 이탈율 위젯·프로모션 타깃 발송·AI 비서 조회 도구에서 함께 소비된다.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16"/>
          <p:cNvSpPr/>
          <p:nvPr/>
        </p:nvSpPr>
        <p:spPr>
          <a:xfrm>
            <a:off x="548640" y="5541264"/>
            <a:ext cx="11073384" cy="603504"/>
          </a:xfrm>
          <a:prstGeom prst="roundRect">
            <a:avLst>
              <a:gd fmla="val 15152" name="adj"/>
            </a:avLst>
          </a:prstGeom>
          <a:solidFill>
            <a:srgbClr val="F3E8FF"/>
          </a:solidFill>
          <a:ln cap="flat" cmpd="sng" w="12700">
            <a:solidFill>
              <a:srgbClr val="E9D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16"/>
          <p:cNvSpPr/>
          <p:nvPr/>
        </p:nvSpPr>
        <p:spPr>
          <a:xfrm>
            <a:off x="841248" y="5541264"/>
            <a:ext cx="105156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7C3AED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설계 의도   </a:t>
            </a:r>
            <a:r>
              <a:rPr b="0" i="0" lang="en-US" sz="110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"이탈할 것 같다"는 확률만으로는 사장님이 할 수 있는 일이 없다. SHAP으로 원인을 함께 내려 "가격 불만 상위 회원에게 할인 쿠폰"처럼 행동으로 연결되게 설계했다.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17"/>
          <p:cNvSpPr/>
          <p:nvPr/>
        </p:nvSpPr>
        <p:spPr>
          <a:xfrm>
            <a:off x="566928" y="402336"/>
            <a:ext cx="118872" cy="118872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17"/>
          <p:cNvSpPr/>
          <p:nvPr/>
        </p:nvSpPr>
        <p:spPr>
          <a:xfrm>
            <a:off x="777240" y="32918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4F00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C84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04 · MODEL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17"/>
          <p:cNvSpPr/>
          <p:nvPr/>
        </p:nvSpPr>
        <p:spPr>
          <a:xfrm>
            <a:off x="548640" y="658368"/>
            <a:ext cx="10424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이탈 예측 모델 ① 데이터와 구조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7"/>
          <p:cNvSpPr/>
          <p:nvPr/>
        </p:nvSpPr>
        <p:spPr>
          <a:xfrm>
            <a:off x="576072" y="1225296"/>
            <a:ext cx="10424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설문 응답 여부에 따라 서로 다른 모델로 갈라 예측한다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7"/>
          <p:cNvSpPr/>
          <p:nvPr/>
        </p:nvSpPr>
        <p:spPr>
          <a:xfrm>
            <a:off x="11247120" y="626364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A3A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17"/>
          <p:cNvSpPr/>
          <p:nvPr/>
        </p:nvSpPr>
        <p:spPr>
          <a:xfrm>
            <a:off x="548640" y="1783080"/>
            <a:ext cx="3383280" cy="2377440"/>
          </a:xfrm>
          <a:prstGeom prst="roundRect">
            <a:avLst>
              <a:gd fmla="val 4615" name="adj"/>
            </a:avLst>
          </a:prstGeom>
          <a:solidFill>
            <a:srgbClr val="FAFAF8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17"/>
          <p:cNvSpPr/>
          <p:nvPr/>
        </p:nvSpPr>
        <p:spPr>
          <a:xfrm>
            <a:off x="822960" y="1938528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 데이터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7"/>
          <p:cNvSpPr/>
          <p:nvPr/>
        </p:nvSpPr>
        <p:spPr>
          <a:xfrm>
            <a:off x="841248" y="2304288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FF6B00"/>
                </a:solidFill>
                <a:latin typeface="Malgun Gothic"/>
                <a:ea typeface="Malgun Gothic"/>
                <a:cs typeface="Malgun Gothic"/>
                <a:sym typeface="Malgun Gothic"/>
              </a:rPr>
              <a:t>5,000행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17"/>
          <p:cNvSpPr/>
          <p:nvPr/>
        </p:nvSpPr>
        <p:spPr>
          <a:xfrm>
            <a:off x="2157984" y="2304288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회원 표본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17"/>
          <p:cNvSpPr/>
          <p:nvPr/>
        </p:nvSpPr>
        <p:spPr>
          <a:xfrm>
            <a:off x="841248" y="2734056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FF6B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30.14%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17"/>
          <p:cNvSpPr/>
          <p:nvPr/>
        </p:nvSpPr>
        <p:spPr>
          <a:xfrm>
            <a:off x="2157984" y="2734056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이탈률 (1,507명)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17"/>
          <p:cNvSpPr/>
          <p:nvPr/>
        </p:nvSpPr>
        <p:spPr>
          <a:xfrm>
            <a:off x="841248" y="3163824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FF6B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16개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17"/>
          <p:cNvSpPr/>
          <p:nvPr/>
        </p:nvSpPr>
        <p:spPr>
          <a:xfrm>
            <a:off x="2157984" y="3163824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 입력 피처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17"/>
          <p:cNvSpPr/>
          <p:nvPr/>
        </p:nvSpPr>
        <p:spPr>
          <a:xfrm>
            <a:off x="841248" y="3593592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FF6B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0건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7"/>
          <p:cNvSpPr/>
          <p:nvPr/>
        </p:nvSpPr>
        <p:spPr>
          <a:xfrm>
            <a:off x="2157984" y="3593592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결측 · 중복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17"/>
          <p:cNvSpPr/>
          <p:nvPr/>
        </p:nvSpPr>
        <p:spPr>
          <a:xfrm>
            <a:off x="4160520" y="1783080"/>
            <a:ext cx="7461504" cy="2377440"/>
          </a:xfrm>
          <a:prstGeom prst="roundRect">
            <a:avLst>
              <a:gd fmla="val 4615" name="adj"/>
            </a:avLst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17"/>
          <p:cNvSpPr/>
          <p:nvPr/>
        </p:nvSpPr>
        <p:spPr>
          <a:xfrm>
            <a:off x="4434840" y="1938528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이중 입력 구조 — 설문 응답 여부로 분기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17"/>
          <p:cNvSpPr/>
          <p:nvPr/>
        </p:nvSpPr>
        <p:spPr>
          <a:xfrm>
            <a:off x="4434840" y="2304288"/>
            <a:ext cx="3291840" cy="1170432"/>
          </a:xfrm>
          <a:prstGeom prst="roundRect">
            <a:avLst>
              <a:gd fmla="val 7813" name="adj"/>
            </a:avLst>
          </a:prstGeom>
          <a:solidFill>
            <a:srgbClr val="FFF0E8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17"/>
          <p:cNvSpPr/>
          <p:nvPr/>
        </p:nvSpPr>
        <p:spPr>
          <a:xfrm>
            <a:off x="4672584" y="2414016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FF6B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설문 응답 회원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7"/>
          <p:cNvSpPr/>
          <p:nvPr/>
        </p:nvSpPr>
        <p:spPr>
          <a:xfrm>
            <a:off x="4681728" y="2706624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16피처 = 행동 8 + 설문 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17"/>
          <p:cNvSpPr/>
          <p:nvPr/>
        </p:nvSpPr>
        <p:spPr>
          <a:xfrm>
            <a:off x="4681728" y="2980944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전용 모델 · 전용 확률보정 · 전용 SHAP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17"/>
          <p:cNvSpPr/>
          <p:nvPr/>
        </p:nvSpPr>
        <p:spPr>
          <a:xfrm>
            <a:off x="8001000" y="2304288"/>
            <a:ext cx="3291840" cy="1170432"/>
          </a:xfrm>
          <a:prstGeom prst="roundRect">
            <a:avLst>
              <a:gd fmla="val 7813" name="adj"/>
            </a:avLst>
          </a:prstGeom>
          <a:solidFill>
            <a:srgbClr val="EFF6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17"/>
          <p:cNvSpPr/>
          <p:nvPr/>
        </p:nvSpPr>
        <p:spPr>
          <a:xfrm>
            <a:off x="8238744" y="2414016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0284C7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설문 미응답 회원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17"/>
          <p:cNvSpPr/>
          <p:nvPr/>
        </p:nvSpPr>
        <p:spPr>
          <a:xfrm>
            <a:off x="8247888" y="2706624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8피처 = 행동만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17"/>
          <p:cNvSpPr/>
          <p:nvPr/>
        </p:nvSpPr>
        <p:spPr>
          <a:xfrm>
            <a:off x="8247888" y="2980944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행동 전용 모델 · 별도 보정 · 별도 SHAP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17"/>
          <p:cNvSpPr/>
          <p:nvPr/>
        </p:nvSpPr>
        <p:spPr>
          <a:xfrm>
            <a:off x="4443984" y="3566160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예측 후 입력 순서대로 다시 합쳐 하나의 결과로 반환한다.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17"/>
          <p:cNvSpPr/>
          <p:nvPr/>
        </p:nvSpPr>
        <p:spPr>
          <a:xfrm>
            <a:off x="548640" y="4343400"/>
            <a:ext cx="5541264" cy="1783080"/>
          </a:xfrm>
          <a:prstGeom prst="roundRect">
            <a:avLst>
              <a:gd fmla="val 6154" name="adj"/>
            </a:avLst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17"/>
          <p:cNvSpPr/>
          <p:nvPr/>
        </p:nvSpPr>
        <p:spPr>
          <a:xfrm>
            <a:off x="822960" y="4498848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0284C7"/>
                </a:solidFill>
                <a:latin typeface="Malgun Gothic"/>
                <a:ea typeface="Malgun Gothic"/>
                <a:cs typeface="Malgun Gothic"/>
                <a:sym typeface="Malgun Gothic"/>
              </a:rPr>
              <a:t>행동 8피처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17"/>
          <p:cNvSpPr/>
          <p:nvPr/>
        </p:nvSpPr>
        <p:spPr>
          <a:xfrm>
            <a:off x="832104" y="4791456"/>
            <a:ext cx="4983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나이 · 주당 방문 횟수 · 총 이용 개월 · 방문 공백 · 일평균 운동시간 · 이용 시간대 혼잡도 · PT 가입 여부 · 그룹수업 참여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17"/>
          <p:cNvSpPr/>
          <p:nvPr/>
        </p:nvSpPr>
        <p:spPr>
          <a:xfrm>
            <a:off x="822960" y="5358384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7C3AED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설문 8피처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17"/>
          <p:cNvSpPr/>
          <p:nvPr/>
        </p:nvSpPr>
        <p:spPr>
          <a:xfrm>
            <a:off x="832104" y="5650992"/>
            <a:ext cx="4983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최근 한 달 부상 경험 + 불만 7종(환경·비매너·기구 부족·기구 상태·직원 불친절·전문성·가격)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17"/>
          <p:cNvSpPr/>
          <p:nvPr/>
        </p:nvSpPr>
        <p:spPr>
          <a:xfrm>
            <a:off x="6272784" y="4343400"/>
            <a:ext cx="5349240" cy="1783080"/>
          </a:xfrm>
          <a:prstGeom prst="roundRect">
            <a:avLst>
              <a:gd fmla="val 6154" name="adj"/>
            </a:avLst>
          </a:prstGeom>
          <a:solidFill>
            <a:srgbClr val="171717"/>
          </a:solidFill>
          <a:ln cap="flat" cmpd="sng" w="12700">
            <a:solidFill>
              <a:srgbClr val="17171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17"/>
          <p:cNvSpPr/>
          <p:nvPr/>
        </p:nvSpPr>
        <p:spPr>
          <a:xfrm>
            <a:off x="6547104" y="4498848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FF6B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성격을 분명히 하고 시작했다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17"/>
          <p:cNvSpPr/>
          <p:nvPr/>
        </p:nvSpPr>
        <p:spPr>
          <a:xfrm>
            <a:off x="6556248" y="4791456"/>
            <a:ext cx="48006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D0D0D0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D0D0D0"/>
                </a:solidFill>
                <a:latin typeface="Malgun Gothic"/>
                <a:ea typeface="Malgun Gothic"/>
                <a:cs typeface="Malgun Gothic"/>
                <a:sym typeface="Malgun Gothic"/>
              </a:rPr>
              <a:t>특정 헬스장 실측이 아니라 업계 보고서(HFA·ABC Fitness 등)의 분포를 반영해 생성한 시뮬레이션 데이터다.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D0D0D0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D0D0D0"/>
                </a:solidFill>
                <a:latin typeface="Malgun Gothic"/>
                <a:ea typeface="Malgun Gothic"/>
                <a:cs typeface="Malgun Gothic"/>
                <a:sym typeface="Malgun Gothic"/>
              </a:rPr>
              <a:t>따라서 검증 기준은 이탈률의 절대 정확도가 아니라 분포 재현·요인 방향·등급 경계의 유지에 두었다. 실측이 쌓이면 재학습하되 피처 순서와 결과 형식은 유지한다.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18"/>
          <p:cNvSpPr/>
          <p:nvPr/>
        </p:nvSpPr>
        <p:spPr>
          <a:xfrm>
            <a:off x="566928" y="402336"/>
            <a:ext cx="118872" cy="118872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18"/>
          <p:cNvSpPr/>
          <p:nvPr/>
        </p:nvSpPr>
        <p:spPr>
          <a:xfrm>
            <a:off x="777240" y="32918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4F00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C84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04 · MODEL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18"/>
          <p:cNvSpPr/>
          <p:nvPr/>
        </p:nvSpPr>
        <p:spPr>
          <a:xfrm>
            <a:off x="548640" y="658368"/>
            <a:ext cx="10424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이탈 예측 모델 ② 성능과 검증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18"/>
          <p:cNvSpPr/>
          <p:nvPr/>
        </p:nvSpPr>
        <p:spPr>
          <a:xfrm>
            <a:off x="576072" y="1225296"/>
            <a:ext cx="10424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같은 프로토콜로 재측정한 값만 성능 근거로 사용한다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18"/>
          <p:cNvSpPr/>
          <p:nvPr/>
        </p:nvSpPr>
        <p:spPr>
          <a:xfrm>
            <a:off x="11247120" y="626364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A3A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16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18"/>
          <p:cNvSpPr/>
          <p:nvPr/>
        </p:nvSpPr>
        <p:spPr>
          <a:xfrm>
            <a:off x="548640" y="1783080"/>
            <a:ext cx="5541264" cy="2331720"/>
          </a:xfrm>
          <a:prstGeom prst="roundRect">
            <a:avLst>
              <a:gd fmla="val 4706" name="adj"/>
            </a:avLst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18"/>
          <p:cNvSpPr/>
          <p:nvPr/>
        </p:nvSpPr>
        <p:spPr>
          <a:xfrm>
            <a:off x="822960" y="1938528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교차검증 재측정 (5-fold · 확률 보정 적용)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18"/>
          <p:cNvSpPr/>
          <p:nvPr/>
        </p:nvSpPr>
        <p:spPr>
          <a:xfrm>
            <a:off x="822960" y="2267712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950"/>
              <a:buFont typeface="Malgun Gothic"/>
              <a:buNone/>
            </a:pPr>
            <a:r>
              <a:rPr b="1" i="0" lang="en-US" sz="950" u="none" cap="none" strike="noStrike">
                <a:solidFill>
                  <a:srgbClr val="A3A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구성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18"/>
          <p:cNvSpPr/>
          <p:nvPr/>
        </p:nvSpPr>
        <p:spPr>
          <a:xfrm>
            <a:off x="3291840" y="22677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950"/>
              <a:buFont typeface="Malgun Gothic"/>
              <a:buNone/>
            </a:pPr>
            <a:r>
              <a:rPr b="1" i="0" lang="en-US" sz="950" u="none" cap="none" strike="noStrike">
                <a:solidFill>
                  <a:srgbClr val="A3A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AUC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18"/>
          <p:cNvSpPr/>
          <p:nvPr/>
        </p:nvSpPr>
        <p:spPr>
          <a:xfrm>
            <a:off x="4251960" y="22677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950"/>
              <a:buFont typeface="Malgun Gothic"/>
              <a:buNone/>
            </a:pPr>
            <a:r>
              <a:rPr b="1" i="0" lang="en-US" sz="950" u="none" cap="none" strike="noStrike">
                <a:solidFill>
                  <a:srgbClr val="A3A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F1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18"/>
          <p:cNvSpPr/>
          <p:nvPr/>
        </p:nvSpPr>
        <p:spPr>
          <a:xfrm>
            <a:off x="5166360" y="2267712"/>
            <a:ext cx="1280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950"/>
              <a:buFont typeface="Malgun Gothic"/>
              <a:buNone/>
            </a:pPr>
            <a:r>
              <a:rPr b="1" i="0" lang="en-US" sz="950" u="none" cap="none" strike="noStrike">
                <a:solidFill>
                  <a:srgbClr val="A3A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평균 예측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18"/>
          <p:cNvSpPr/>
          <p:nvPr/>
        </p:nvSpPr>
        <p:spPr>
          <a:xfrm>
            <a:off x="822960" y="2560320"/>
            <a:ext cx="5029200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18"/>
          <p:cNvSpPr/>
          <p:nvPr/>
        </p:nvSpPr>
        <p:spPr>
          <a:xfrm>
            <a:off x="896112" y="256032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FF6B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설문 응답 · 16피처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18"/>
          <p:cNvSpPr/>
          <p:nvPr/>
        </p:nvSpPr>
        <p:spPr>
          <a:xfrm>
            <a:off x="3291840" y="25603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0.7953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18"/>
          <p:cNvSpPr/>
          <p:nvPr/>
        </p:nvSpPr>
        <p:spPr>
          <a:xfrm>
            <a:off x="4251960" y="25603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0.5492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18"/>
          <p:cNvSpPr/>
          <p:nvPr/>
        </p:nvSpPr>
        <p:spPr>
          <a:xfrm>
            <a:off x="5166360" y="256032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0.304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18"/>
          <p:cNvSpPr/>
          <p:nvPr/>
        </p:nvSpPr>
        <p:spPr>
          <a:xfrm>
            <a:off x="822960" y="2962656"/>
            <a:ext cx="5029200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18"/>
          <p:cNvSpPr/>
          <p:nvPr/>
        </p:nvSpPr>
        <p:spPr>
          <a:xfrm>
            <a:off x="896112" y="2962656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설문 미응답 · 8피처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18"/>
          <p:cNvSpPr/>
          <p:nvPr/>
        </p:nvSpPr>
        <p:spPr>
          <a:xfrm>
            <a:off x="3291840" y="2962656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0.7742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18"/>
          <p:cNvSpPr/>
          <p:nvPr/>
        </p:nvSpPr>
        <p:spPr>
          <a:xfrm>
            <a:off x="4251960" y="2962656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0.4858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18"/>
          <p:cNvSpPr/>
          <p:nvPr/>
        </p:nvSpPr>
        <p:spPr>
          <a:xfrm>
            <a:off x="5166360" y="2962656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0.303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18"/>
          <p:cNvSpPr/>
          <p:nvPr/>
        </p:nvSpPr>
        <p:spPr>
          <a:xfrm>
            <a:off x="822960" y="3364992"/>
            <a:ext cx="5029200" cy="365760"/>
          </a:xfrm>
          <a:prstGeom prst="rect">
            <a:avLst/>
          </a:prstGeom>
          <a:solidFill>
            <a:srgbClr val="FEF2F2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18"/>
          <p:cNvSpPr/>
          <p:nvPr/>
        </p:nvSpPr>
        <p:spPr>
          <a:xfrm>
            <a:off x="896112" y="3364992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B91C1C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단일 모델로 통합했을 때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18"/>
          <p:cNvSpPr/>
          <p:nvPr/>
        </p:nvSpPr>
        <p:spPr>
          <a:xfrm>
            <a:off x="3291840" y="3364992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0.7636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18"/>
          <p:cNvSpPr/>
          <p:nvPr/>
        </p:nvSpPr>
        <p:spPr>
          <a:xfrm>
            <a:off x="4251960" y="3364992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0.5544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18"/>
          <p:cNvSpPr/>
          <p:nvPr/>
        </p:nvSpPr>
        <p:spPr>
          <a:xfrm>
            <a:off x="5166360" y="3364992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0.576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18"/>
          <p:cNvSpPr/>
          <p:nvPr/>
        </p:nvSpPr>
        <p:spPr>
          <a:xfrm>
            <a:off x="832104" y="3803904"/>
            <a:ext cx="4983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B91C1C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실측 이탈률 0.301 — 통합 구성은 평균 예측이 0.576으로 1.9배 부풀어 확률 자체가 무너진다.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18"/>
          <p:cNvSpPr/>
          <p:nvPr/>
        </p:nvSpPr>
        <p:spPr>
          <a:xfrm>
            <a:off x="6272784" y="1783080"/>
            <a:ext cx="5349240" cy="2331720"/>
          </a:xfrm>
          <a:prstGeom prst="roundRect">
            <a:avLst>
              <a:gd fmla="val 4706" name="adj"/>
            </a:avLst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18"/>
          <p:cNvSpPr/>
          <p:nvPr/>
        </p:nvSpPr>
        <p:spPr>
          <a:xfrm>
            <a:off x="6547104" y="1938528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이탈 드라이버 — 회원별 요인 산출의 근거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18"/>
          <p:cNvSpPr/>
          <p:nvPr/>
        </p:nvSpPr>
        <p:spPr>
          <a:xfrm>
            <a:off x="6547104" y="228600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방문 공백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18"/>
          <p:cNvSpPr/>
          <p:nvPr/>
        </p:nvSpPr>
        <p:spPr>
          <a:xfrm>
            <a:off x="8321040" y="2368296"/>
            <a:ext cx="2331720" cy="128016"/>
          </a:xfrm>
          <a:prstGeom prst="roundRect">
            <a:avLst>
              <a:gd fmla="val 50000" name="adj"/>
            </a:avLst>
          </a:prstGeom>
          <a:solidFill>
            <a:srgbClr val="B91C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18"/>
          <p:cNvSpPr/>
          <p:nvPr/>
        </p:nvSpPr>
        <p:spPr>
          <a:xfrm>
            <a:off x="10789920" y="228600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0.672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18"/>
          <p:cNvSpPr/>
          <p:nvPr/>
        </p:nvSpPr>
        <p:spPr>
          <a:xfrm>
            <a:off x="6547104" y="2615184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주당 방문 횟수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18"/>
          <p:cNvSpPr/>
          <p:nvPr/>
        </p:nvSpPr>
        <p:spPr>
          <a:xfrm>
            <a:off x="8321040" y="2697480"/>
            <a:ext cx="1452428" cy="128016"/>
          </a:xfrm>
          <a:prstGeom prst="roundRect">
            <a:avLst>
              <a:gd fmla="val 50000" name="adj"/>
            </a:avLst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18"/>
          <p:cNvSpPr/>
          <p:nvPr/>
        </p:nvSpPr>
        <p:spPr>
          <a:xfrm>
            <a:off x="10789920" y="2615184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0.419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18"/>
          <p:cNvSpPr/>
          <p:nvPr/>
        </p:nvSpPr>
        <p:spPr>
          <a:xfrm>
            <a:off x="6547104" y="2944368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가격 불만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18"/>
          <p:cNvSpPr/>
          <p:nvPr/>
        </p:nvSpPr>
        <p:spPr>
          <a:xfrm>
            <a:off x="8321040" y="3026664"/>
            <a:ext cx="814108" cy="128016"/>
          </a:xfrm>
          <a:prstGeom prst="roundRect">
            <a:avLst>
              <a:gd fmla="val 50000" name="adj"/>
            </a:avLst>
          </a:prstGeom>
          <a:solidFill>
            <a:srgbClr val="9240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18"/>
          <p:cNvSpPr/>
          <p:nvPr/>
        </p:nvSpPr>
        <p:spPr>
          <a:xfrm>
            <a:off x="10789920" y="294436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0.235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18"/>
          <p:cNvSpPr/>
          <p:nvPr/>
        </p:nvSpPr>
        <p:spPr>
          <a:xfrm>
            <a:off x="6547104" y="3273552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일평균 운동시간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18"/>
          <p:cNvSpPr/>
          <p:nvPr/>
        </p:nvSpPr>
        <p:spPr>
          <a:xfrm>
            <a:off x="8321040" y="3355848"/>
            <a:ext cx="701423" cy="128016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18"/>
          <p:cNvSpPr/>
          <p:nvPr/>
        </p:nvSpPr>
        <p:spPr>
          <a:xfrm>
            <a:off x="10789920" y="3273552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0.202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18"/>
          <p:cNvSpPr/>
          <p:nvPr/>
        </p:nvSpPr>
        <p:spPr>
          <a:xfrm>
            <a:off x="6547104" y="3602736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총 이용 개월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18"/>
          <p:cNvSpPr/>
          <p:nvPr/>
        </p:nvSpPr>
        <p:spPr>
          <a:xfrm>
            <a:off x="8321040" y="3685032"/>
            <a:ext cx="672298" cy="128016"/>
          </a:xfrm>
          <a:prstGeom prst="roundRect">
            <a:avLst>
              <a:gd fmla="val 50000" name="adj"/>
            </a:avLst>
          </a:prstGeom>
          <a:solidFill>
            <a:srgbClr val="7A7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18"/>
          <p:cNvSpPr/>
          <p:nvPr/>
        </p:nvSpPr>
        <p:spPr>
          <a:xfrm>
            <a:off x="10789920" y="3602736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0.194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18"/>
          <p:cNvSpPr/>
          <p:nvPr/>
        </p:nvSpPr>
        <p:spPr>
          <a:xfrm>
            <a:off x="6556248" y="3803904"/>
            <a:ext cx="4800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피처별 평균 기여도 — 개별 회원의 상위 3개 요인은 그 회원의 값 기준으로 다시 계산된다.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18"/>
          <p:cNvSpPr/>
          <p:nvPr/>
        </p:nvSpPr>
        <p:spPr>
          <a:xfrm>
            <a:off x="548640" y="4279392"/>
            <a:ext cx="3575304" cy="1115568"/>
          </a:xfrm>
          <a:prstGeom prst="roundRect">
            <a:avLst>
              <a:gd fmla="val 9016" name="adj"/>
            </a:avLst>
          </a:prstGeom>
          <a:solidFill>
            <a:srgbClr val="F0FDF4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18"/>
          <p:cNvSpPr/>
          <p:nvPr/>
        </p:nvSpPr>
        <p:spPr>
          <a:xfrm>
            <a:off x="786384" y="4379976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1580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설계 방향 16 / 16 일치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18"/>
          <p:cNvSpPr/>
          <p:nvPr/>
        </p:nvSpPr>
        <p:spPr>
          <a:xfrm>
            <a:off x="795528" y="4654296"/>
            <a:ext cx="312724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설계 시 정한 위험·보호 방향이 로지스틱 역산과 기여도 분석 양쪽에서 모두 그대로 나왔다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18"/>
          <p:cNvSpPr/>
          <p:nvPr/>
        </p:nvSpPr>
        <p:spPr>
          <a:xfrm>
            <a:off x="4343400" y="4279392"/>
            <a:ext cx="3575304" cy="1115568"/>
          </a:xfrm>
          <a:prstGeom prst="roundRect">
            <a:avLst>
              <a:gd fmla="val 9016" name="adj"/>
            </a:avLst>
          </a:prstGeom>
          <a:solidFill>
            <a:srgbClr val="EFF6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18"/>
          <p:cNvSpPr/>
          <p:nvPr/>
        </p:nvSpPr>
        <p:spPr>
          <a:xfrm>
            <a:off x="4581144" y="4379976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등급 경계가 실제와 정렬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18"/>
          <p:cNvSpPr/>
          <p:nvPr/>
        </p:nvSpPr>
        <p:spPr>
          <a:xfrm>
            <a:off x="4590288" y="4654296"/>
            <a:ext cx="312724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안정 13.5% · 관찰 31.7% · 개입 57.4% · 긴급 86.3% — 등급이 올라갈수록 실측 이탈률도 단조 증가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18"/>
          <p:cNvSpPr/>
          <p:nvPr/>
        </p:nvSpPr>
        <p:spPr>
          <a:xfrm>
            <a:off x="8138160" y="4279392"/>
            <a:ext cx="3575304" cy="1115568"/>
          </a:xfrm>
          <a:prstGeom prst="roundRect">
            <a:avLst>
              <a:gd fmla="val 9016" name="adj"/>
            </a:avLst>
          </a:prstGeom>
          <a:solidFill>
            <a:srgbClr val="FFF0E8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18"/>
          <p:cNvSpPr/>
          <p:nvPr/>
        </p:nvSpPr>
        <p:spPr>
          <a:xfrm>
            <a:off x="8375904" y="4379976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4F00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C84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성능 근거를 골라 썼다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18"/>
          <p:cNvSpPr/>
          <p:nvPr/>
        </p:nvSpPr>
        <p:spPr>
          <a:xfrm>
            <a:off x="8385048" y="4654296"/>
            <a:ext cx="312724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 데이터를 그대로 맞힌 값(0.919)과 낙관적으로 기록된 등급별 수치는 근거에서 제외했다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18"/>
          <p:cNvSpPr/>
          <p:nvPr/>
        </p:nvSpPr>
        <p:spPr>
          <a:xfrm>
            <a:off x="548640" y="5504688"/>
            <a:ext cx="11073384" cy="749808"/>
          </a:xfrm>
          <a:prstGeom prst="roundRect">
            <a:avLst>
              <a:gd fmla="val 12195" name="adj"/>
            </a:avLst>
          </a:prstGeom>
          <a:solidFill>
            <a:srgbClr val="FAFAF8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18"/>
          <p:cNvSpPr/>
          <p:nvPr/>
        </p:nvSpPr>
        <p:spPr>
          <a:xfrm>
            <a:off x="841248" y="5504688"/>
            <a:ext cx="10515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운영에 전달한 주의사항   </a:t>
            </a: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설문에서 가장 높게 나오는 불만은 직원 응대(평균 3.61)지만, 이탈 예측력이 가장 큰 불만은 가격이다. 화면에서 "불만 점수 1위"와 "이탈 요인 1위"를 혼동하지 않도록 구분해 표시했고, 설문 미응답 회원은 요인이 행동 지표로만 채워지므로 "불만 없음"이 아니라 "판단 불가"로 읽어야 한다.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19"/>
          <p:cNvSpPr/>
          <p:nvPr/>
        </p:nvSpPr>
        <p:spPr>
          <a:xfrm>
            <a:off x="566928" y="402336"/>
            <a:ext cx="118872" cy="118872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19"/>
          <p:cNvSpPr/>
          <p:nvPr/>
        </p:nvSpPr>
        <p:spPr>
          <a:xfrm>
            <a:off x="777240" y="32918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4F00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C84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04 · FEATURE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19"/>
          <p:cNvSpPr/>
          <p:nvPr/>
        </p:nvSpPr>
        <p:spPr>
          <a:xfrm>
            <a:off x="548640" y="658368"/>
            <a:ext cx="10424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기능 ⑤ AI 비서 — Tool Use 오케스트레이션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19"/>
          <p:cNvSpPr/>
          <p:nvPr/>
        </p:nvSpPr>
        <p:spPr>
          <a:xfrm>
            <a:off x="576072" y="1225296"/>
            <a:ext cx="10424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RAG가 아니라 함수 호출 방식. LLM은 '무엇을 부를지'만 정하고 실행·권한은 서버가 강제한다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19"/>
          <p:cNvSpPr/>
          <p:nvPr/>
        </p:nvSpPr>
        <p:spPr>
          <a:xfrm>
            <a:off x="11247120" y="626364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A3A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17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19"/>
          <p:cNvSpPr/>
          <p:nvPr/>
        </p:nvSpPr>
        <p:spPr>
          <a:xfrm>
            <a:off x="548640" y="1810512"/>
            <a:ext cx="2011680" cy="1207008"/>
          </a:xfrm>
          <a:prstGeom prst="roundRect">
            <a:avLst>
              <a:gd fmla="val 8333" name="adj"/>
            </a:avLst>
          </a:prstGeom>
          <a:solidFill>
            <a:srgbClr val="F5F5F5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19"/>
          <p:cNvSpPr/>
          <p:nvPr/>
        </p:nvSpPr>
        <p:spPr>
          <a:xfrm>
            <a:off x="676656" y="1938528"/>
            <a:ext cx="17556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질문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19"/>
          <p:cNvSpPr/>
          <p:nvPr/>
        </p:nvSpPr>
        <p:spPr>
          <a:xfrm>
            <a:off x="658368" y="2249424"/>
            <a:ext cx="179222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"이번 달 순이익이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어떻게 되지?"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3" name="Google Shape;753;p19"/>
          <p:cNvCxnSpPr/>
          <p:nvPr/>
        </p:nvCxnSpPr>
        <p:spPr>
          <a:xfrm>
            <a:off x="2578608" y="2414016"/>
            <a:ext cx="246888" cy="0"/>
          </a:xfrm>
          <a:prstGeom prst="straightConnector1">
            <a:avLst/>
          </a:prstGeom>
          <a:noFill/>
          <a:ln cap="flat" cmpd="sng" w="19050">
            <a:solidFill>
              <a:srgbClr val="D4D4D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54" name="Google Shape;754;p19"/>
          <p:cNvSpPr/>
          <p:nvPr/>
        </p:nvSpPr>
        <p:spPr>
          <a:xfrm>
            <a:off x="2843784" y="1810512"/>
            <a:ext cx="2011680" cy="1207008"/>
          </a:xfrm>
          <a:prstGeom prst="roundRect">
            <a:avLst>
              <a:gd fmla="val 8333" name="adj"/>
            </a:avLst>
          </a:prstGeom>
          <a:solidFill>
            <a:srgbClr val="FFF0E8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19"/>
          <p:cNvSpPr/>
          <p:nvPr/>
        </p:nvSpPr>
        <p:spPr>
          <a:xfrm>
            <a:off x="2971800" y="1938528"/>
            <a:ext cx="17556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4F00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C84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오케스트레이터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19"/>
          <p:cNvSpPr/>
          <p:nvPr/>
        </p:nvSpPr>
        <p:spPr>
          <a:xfrm>
            <a:off x="2953512" y="2249424"/>
            <a:ext cx="179222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role별 도구 목록 조립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JWT에서 지점 주입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7" name="Google Shape;757;p19"/>
          <p:cNvCxnSpPr/>
          <p:nvPr/>
        </p:nvCxnSpPr>
        <p:spPr>
          <a:xfrm>
            <a:off x="4873752" y="2414016"/>
            <a:ext cx="246888" cy="0"/>
          </a:xfrm>
          <a:prstGeom prst="straightConnector1">
            <a:avLst/>
          </a:prstGeom>
          <a:noFill/>
          <a:ln cap="flat" cmpd="sng" w="19050">
            <a:solidFill>
              <a:srgbClr val="D4D4D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58" name="Google Shape;758;p19"/>
          <p:cNvSpPr/>
          <p:nvPr/>
        </p:nvSpPr>
        <p:spPr>
          <a:xfrm>
            <a:off x="5138928" y="1810512"/>
            <a:ext cx="2011680" cy="1207008"/>
          </a:xfrm>
          <a:prstGeom prst="roundRect">
            <a:avLst>
              <a:gd fmla="val 8333" name="adj"/>
            </a:avLst>
          </a:prstGeom>
          <a:solidFill>
            <a:srgbClr val="171717"/>
          </a:solidFill>
          <a:ln cap="flat" cmpd="sng" w="12700">
            <a:solidFill>
              <a:srgbClr val="1717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19"/>
          <p:cNvSpPr/>
          <p:nvPr/>
        </p:nvSpPr>
        <p:spPr>
          <a:xfrm>
            <a:off x="5266944" y="1938528"/>
            <a:ext cx="17556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Claude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19"/>
          <p:cNvSpPr/>
          <p:nvPr/>
        </p:nvSpPr>
        <p:spPr>
          <a:xfrm>
            <a:off x="5248656" y="2249424"/>
            <a:ext cx="179222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C8C8C8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C8C8C8"/>
                </a:solidFill>
                <a:latin typeface="Malgun Gothic"/>
                <a:ea typeface="Malgun Gothic"/>
                <a:cs typeface="Malgun Gothic"/>
                <a:sym typeface="Malgun Gothic"/>
              </a:rPr>
              <a:t>tool_use 응답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C8C8C8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C8C8C8"/>
                </a:solidFill>
                <a:latin typeface="Malgun Gothic"/>
                <a:ea typeface="Malgun Gothic"/>
                <a:cs typeface="Malgun Gothic"/>
                <a:sym typeface="Malgun Gothic"/>
              </a:rPr>
              <a:t>(도구명 + 인자)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1" name="Google Shape;761;p19"/>
          <p:cNvCxnSpPr/>
          <p:nvPr/>
        </p:nvCxnSpPr>
        <p:spPr>
          <a:xfrm>
            <a:off x="7168896" y="2414016"/>
            <a:ext cx="246888" cy="0"/>
          </a:xfrm>
          <a:prstGeom prst="straightConnector1">
            <a:avLst/>
          </a:prstGeom>
          <a:noFill/>
          <a:ln cap="flat" cmpd="sng" w="19050">
            <a:solidFill>
              <a:srgbClr val="D4D4D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62" name="Google Shape;762;p19"/>
          <p:cNvSpPr/>
          <p:nvPr/>
        </p:nvSpPr>
        <p:spPr>
          <a:xfrm>
            <a:off x="7434072" y="1810512"/>
            <a:ext cx="2011680" cy="1207008"/>
          </a:xfrm>
          <a:prstGeom prst="roundRect">
            <a:avLst>
              <a:gd fmla="val 8333" name="adj"/>
            </a:avLst>
          </a:prstGeom>
          <a:solidFill>
            <a:srgbClr val="EFF6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19"/>
          <p:cNvSpPr/>
          <p:nvPr/>
        </p:nvSpPr>
        <p:spPr>
          <a:xfrm>
            <a:off x="7562088" y="1938528"/>
            <a:ext cx="17556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검증 · 실행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19"/>
          <p:cNvSpPr/>
          <p:nvPr/>
        </p:nvSpPr>
        <p:spPr>
          <a:xfrm>
            <a:off x="7543800" y="2249424"/>
            <a:ext cx="179222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화이트리스트 → role →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지점 정보 덮어쓰기 → 실행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5" name="Google Shape;765;p19"/>
          <p:cNvCxnSpPr/>
          <p:nvPr/>
        </p:nvCxnSpPr>
        <p:spPr>
          <a:xfrm>
            <a:off x="9464040" y="2414016"/>
            <a:ext cx="246888" cy="0"/>
          </a:xfrm>
          <a:prstGeom prst="straightConnector1">
            <a:avLst/>
          </a:prstGeom>
          <a:noFill/>
          <a:ln cap="flat" cmpd="sng" w="19050">
            <a:solidFill>
              <a:srgbClr val="D4D4D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66" name="Google Shape;766;p19"/>
          <p:cNvSpPr/>
          <p:nvPr/>
        </p:nvSpPr>
        <p:spPr>
          <a:xfrm>
            <a:off x="9729216" y="1810512"/>
            <a:ext cx="2011680" cy="1207008"/>
          </a:xfrm>
          <a:prstGeom prst="roundRect">
            <a:avLst>
              <a:gd fmla="val 8333" name="adj"/>
            </a:avLst>
          </a:prstGeom>
          <a:solidFill>
            <a:srgbClr val="F0FDF4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19"/>
          <p:cNvSpPr/>
          <p:nvPr/>
        </p:nvSpPr>
        <p:spPr>
          <a:xfrm>
            <a:off x="9857232" y="1938528"/>
            <a:ext cx="17556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15803D"/>
                </a:solidFill>
                <a:latin typeface="Malgun Gothic"/>
                <a:ea typeface="Malgun Gothic"/>
                <a:cs typeface="Malgun Gothic"/>
                <a:sym typeface="Malgun Gothic"/>
              </a:rPr>
              <a:t>답변 + 감사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19"/>
          <p:cNvSpPr/>
          <p:nvPr/>
        </p:nvSpPr>
        <p:spPr>
          <a:xfrm>
            <a:off x="9838944" y="2249424"/>
            <a:ext cx="179222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 되먹임 후 응답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감사 로그 기록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19"/>
          <p:cNvSpPr/>
          <p:nvPr/>
        </p:nvSpPr>
        <p:spPr>
          <a:xfrm>
            <a:off x="548640" y="3246120"/>
            <a:ext cx="3575304" cy="1572768"/>
          </a:xfrm>
          <a:prstGeom prst="roundRect">
            <a:avLst>
              <a:gd fmla="val 6395" name="adj"/>
            </a:avLst>
          </a:prstGeom>
          <a:solidFill>
            <a:srgbClr val="FFF0E8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19"/>
          <p:cNvSpPr/>
          <p:nvPr/>
        </p:nvSpPr>
        <p:spPr>
          <a:xfrm>
            <a:off x="786384" y="338328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4F00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C84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READ 도구 9종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19"/>
          <p:cNvSpPr/>
          <p:nvPr/>
        </p:nvSpPr>
        <p:spPr>
          <a:xfrm>
            <a:off x="795528" y="3675888"/>
            <a:ext cx="312724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계약 목록·상세, 로스터, 대시보드 집계, 매출·지출,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건의글, 이탈 예측, 설문, 태스크 브리핑. 기존 Service에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직접 바인딩해 인증이 느슨한 Controller를 우회한다.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19"/>
          <p:cNvSpPr/>
          <p:nvPr/>
        </p:nvSpPr>
        <p:spPr>
          <a:xfrm>
            <a:off x="4343400" y="3246120"/>
            <a:ext cx="3575304" cy="1572768"/>
          </a:xfrm>
          <a:prstGeom prst="roundRect">
            <a:avLst>
              <a:gd fmla="val 6395" name="adj"/>
            </a:avLst>
          </a:prstGeom>
          <a:solidFill>
            <a:srgbClr val="FEF2F2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19"/>
          <p:cNvSpPr/>
          <p:nvPr/>
        </p:nvSpPr>
        <p:spPr>
          <a:xfrm>
            <a:off x="4581144" y="338328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B91C1C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보안 3중 장치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19"/>
          <p:cNvSpPr/>
          <p:nvPr/>
        </p:nvSpPr>
        <p:spPr>
          <a:xfrm>
            <a:off x="4590288" y="3675888"/>
            <a:ext cx="312724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화이트리스트 기본 차단 ② 도구별 allowedRoles 게이팅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③ 지점·사용자 정보는 LLM 인자를 폐기하고 JWT에서 주입.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모든 호출은 감사 로그에 남는다.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19"/>
          <p:cNvSpPr/>
          <p:nvPr/>
        </p:nvSpPr>
        <p:spPr>
          <a:xfrm>
            <a:off x="8138160" y="3246120"/>
            <a:ext cx="3575304" cy="1572768"/>
          </a:xfrm>
          <a:prstGeom prst="roundRect">
            <a:avLst>
              <a:gd fmla="val 6395" name="adj"/>
            </a:avLst>
          </a:prstGeom>
          <a:solidFill>
            <a:srgbClr val="EFF6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19"/>
          <p:cNvSpPr/>
          <p:nvPr/>
        </p:nvSpPr>
        <p:spPr>
          <a:xfrm>
            <a:off x="8375904" y="338328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프리뷰 게이트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19"/>
          <p:cNvSpPr/>
          <p:nvPr/>
        </p:nvSpPr>
        <p:spPr>
          <a:xfrm>
            <a:off x="8385048" y="3675888"/>
            <a:ext cx="312724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ADMIN·TRAINER에게 UI는 노출하되 서버 최상단에서 차단해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Anthropic 호출 자체가 일어나지 않게 했다 — 크레딧 소모 0.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Phase 2 착수 시 이 분기만 제거하면 된다.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19"/>
          <p:cNvSpPr/>
          <p:nvPr/>
        </p:nvSpPr>
        <p:spPr>
          <a:xfrm>
            <a:off x="548640" y="4983480"/>
            <a:ext cx="11073384" cy="1133856"/>
          </a:xfrm>
          <a:prstGeom prst="roundRect">
            <a:avLst>
              <a:gd fmla="val 8871" name="adj"/>
            </a:avLst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19"/>
          <p:cNvSpPr/>
          <p:nvPr/>
        </p:nvSpPr>
        <p:spPr>
          <a:xfrm>
            <a:off x="841248" y="512064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UI 배치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19"/>
          <p:cNvSpPr/>
          <p:nvPr/>
        </p:nvSpPr>
        <p:spPr>
          <a:xfrm>
            <a:off x="841248" y="5532120"/>
            <a:ext cx="118872" cy="118872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19"/>
          <p:cNvSpPr/>
          <p:nvPr/>
        </p:nvSpPr>
        <p:spPr>
          <a:xfrm>
            <a:off x="1060704" y="5440680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하단 플로팅 입력바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19"/>
          <p:cNvSpPr/>
          <p:nvPr/>
        </p:nvSpPr>
        <p:spPr>
          <a:xfrm>
            <a:off x="1069848" y="5696712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폭 480px 알약형. AI 탭이 열리면 숨김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19"/>
          <p:cNvSpPr/>
          <p:nvPr/>
        </p:nvSpPr>
        <p:spPr>
          <a:xfrm>
            <a:off x="4453128" y="5532120"/>
            <a:ext cx="118872" cy="118872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19"/>
          <p:cNvSpPr/>
          <p:nvPr/>
        </p:nvSpPr>
        <p:spPr>
          <a:xfrm>
            <a:off x="4672584" y="5440680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우측 통합 드로어 AI 탭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19"/>
          <p:cNvSpPr/>
          <p:nvPr/>
        </p:nvSpPr>
        <p:spPr>
          <a:xfrm>
            <a:off x="4681728" y="5696712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계약·정산 상세와 같은 드로어를 탭으로 공유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19"/>
          <p:cNvSpPr/>
          <p:nvPr/>
        </p:nvSpPr>
        <p:spPr>
          <a:xfrm>
            <a:off x="8065008" y="5532120"/>
            <a:ext cx="118872" cy="118872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19"/>
          <p:cNvSpPr/>
          <p:nvPr/>
        </p:nvSpPr>
        <p:spPr>
          <a:xfrm>
            <a:off x="8284464" y="5440680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대시보드 AI 영역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19"/>
          <p:cNvSpPr/>
          <p:nvPr/>
        </p:nvSpPr>
        <p:spPr>
          <a:xfrm>
            <a:off x="8293608" y="5696712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왼쪽 질문 카드(AI 호출) / 오른쪽 태스크 브리핑(무소모)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20"/>
          <p:cNvSpPr/>
          <p:nvPr/>
        </p:nvSpPr>
        <p:spPr>
          <a:xfrm>
            <a:off x="566928" y="402336"/>
            <a:ext cx="118872" cy="118872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20"/>
          <p:cNvSpPr/>
          <p:nvPr/>
        </p:nvSpPr>
        <p:spPr>
          <a:xfrm>
            <a:off x="777240" y="32918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4F00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C84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05 · DATA MODEL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20"/>
          <p:cNvSpPr/>
          <p:nvPr/>
        </p:nvSpPr>
        <p:spPr>
          <a:xfrm>
            <a:off x="548640" y="658368"/>
            <a:ext cx="10424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테이블 구조 — 27개 테이블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20"/>
          <p:cNvSpPr/>
          <p:nvPr/>
        </p:nvSpPr>
        <p:spPr>
          <a:xfrm>
            <a:off x="576072" y="1225296"/>
            <a:ext cx="10424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h_gym(사업장)과 h_member(회원)를 허브로, 모든 FK는 ON UPDATE CASCADE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20"/>
          <p:cNvSpPr/>
          <p:nvPr/>
        </p:nvSpPr>
        <p:spPr>
          <a:xfrm>
            <a:off x="11247120" y="626364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A3A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18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20"/>
          <p:cNvSpPr/>
          <p:nvPr/>
        </p:nvSpPr>
        <p:spPr>
          <a:xfrm>
            <a:off x="548640" y="1783080"/>
            <a:ext cx="3575304" cy="2057400"/>
          </a:xfrm>
          <a:prstGeom prst="roundRect">
            <a:avLst>
              <a:gd fmla="val 4889" name="adj"/>
            </a:avLst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20"/>
          <p:cNvSpPr/>
          <p:nvPr/>
        </p:nvSpPr>
        <p:spPr>
          <a:xfrm>
            <a:off x="804672" y="2002536"/>
            <a:ext cx="146304" cy="146304"/>
          </a:xfrm>
          <a:prstGeom prst="ellipse">
            <a:avLst/>
          </a:prstGeom>
          <a:solidFill>
            <a:srgbClr val="1717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20"/>
          <p:cNvSpPr/>
          <p:nvPr/>
        </p:nvSpPr>
        <p:spPr>
          <a:xfrm>
            <a:off x="1042416" y="1911096"/>
            <a:ext cx="2834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계정 · 조직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20"/>
          <p:cNvSpPr/>
          <p:nvPr/>
        </p:nvSpPr>
        <p:spPr>
          <a:xfrm>
            <a:off x="3200400" y="1911096"/>
            <a:ext cx="685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A3A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3개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20"/>
          <p:cNvSpPr/>
          <p:nvPr/>
        </p:nvSpPr>
        <p:spPr>
          <a:xfrm>
            <a:off x="813816" y="2313432"/>
            <a:ext cx="3072384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h_member  회원 (PK: 전화 뒤 8자리)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h_refresh_token  세션 토큰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h_gym  사업장 · 테넌트 기준축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20"/>
          <p:cNvSpPr/>
          <p:nvPr/>
        </p:nvSpPr>
        <p:spPr>
          <a:xfrm>
            <a:off x="4343400" y="1783080"/>
            <a:ext cx="3575304" cy="2057400"/>
          </a:xfrm>
          <a:prstGeom prst="roundRect">
            <a:avLst>
              <a:gd fmla="val 4889" name="adj"/>
            </a:avLst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20"/>
          <p:cNvSpPr/>
          <p:nvPr/>
        </p:nvSpPr>
        <p:spPr>
          <a:xfrm>
            <a:off x="4599432" y="2002536"/>
            <a:ext cx="146304" cy="146304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20"/>
          <p:cNvSpPr/>
          <p:nvPr/>
        </p:nvSpPr>
        <p:spPr>
          <a:xfrm>
            <a:off x="4837176" y="1911096"/>
            <a:ext cx="2834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FF6B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계약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20"/>
          <p:cNvSpPr/>
          <p:nvPr/>
        </p:nvSpPr>
        <p:spPr>
          <a:xfrm>
            <a:off x="6995160" y="1911096"/>
            <a:ext cx="685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A3A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2개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20"/>
          <p:cNvSpPr/>
          <p:nvPr/>
        </p:nvSpPr>
        <p:spPr>
          <a:xfrm>
            <a:off x="4608576" y="2313432"/>
            <a:ext cx="3072384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h_contract  유형 마스터 1~5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h_contract_data  계약 데이터 (22컬럼)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20"/>
          <p:cNvSpPr/>
          <p:nvPr/>
        </p:nvSpPr>
        <p:spPr>
          <a:xfrm>
            <a:off x="8138160" y="1783080"/>
            <a:ext cx="3575304" cy="2057400"/>
          </a:xfrm>
          <a:prstGeom prst="roundRect">
            <a:avLst>
              <a:gd fmla="val 4889" name="adj"/>
            </a:avLst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20"/>
          <p:cNvSpPr/>
          <p:nvPr/>
        </p:nvSpPr>
        <p:spPr>
          <a:xfrm>
            <a:off x="8394192" y="2002536"/>
            <a:ext cx="146304" cy="146304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20"/>
          <p:cNvSpPr/>
          <p:nvPr/>
        </p:nvSpPr>
        <p:spPr>
          <a:xfrm>
            <a:off x="8631936" y="1911096"/>
            <a:ext cx="2834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0284C7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결제 · 정산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20"/>
          <p:cNvSpPr/>
          <p:nvPr/>
        </p:nvSpPr>
        <p:spPr>
          <a:xfrm>
            <a:off x="10789920" y="1911096"/>
            <a:ext cx="685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A3A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5개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20"/>
          <p:cNvSpPr/>
          <p:nvPr/>
        </p:nvSpPr>
        <p:spPr>
          <a:xfrm>
            <a:off x="8403336" y="2313432"/>
            <a:ext cx="3072384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h_payment  회원 결제(매출 원천)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h_pay  결제 상세 · 쿠폰 연결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h_expense  지출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h_settlement  커미션 정산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h_item  물품 · 재고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20"/>
          <p:cNvSpPr/>
          <p:nvPr/>
        </p:nvSpPr>
        <p:spPr>
          <a:xfrm>
            <a:off x="548640" y="3995928"/>
            <a:ext cx="3575304" cy="2057400"/>
          </a:xfrm>
          <a:prstGeom prst="roundRect">
            <a:avLst>
              <a:gd fmla="val 4889" name="adj"/>
            </a:avLst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20"/>
          <p:cNvSpPr/>
          <p:nvPr/>
        </p:nvSpPr>
        <p:spPr>
          <a:xfrm>
            <a:off x="804672" y="4215384"/>
            <a:ext cx="146304" cy="146304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20"/>
          <p:cNvSpPr/>
          <p:nvPr/>
        </p:nvSpPr>
        <p:spPr>
          <a:xfrm>
            <a:off x="1042416" y="4123944"/>
            <a:ext cx="2834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1580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쿠폰 · 소통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20"/>
          <p:cNvSpPr/>
          <p:nvPr/>
        </p:nvSpPr>
        <p:spPr>
          <a:xfrm>
            <a:off x="3200400" y="4123944"/>
            <a:ext cx="685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A3A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6개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0"/>
          <p:cNvSpPr/>
          <p:nvPr/>
        </p:nvSpPr>
        <p:spPr>
          <a:xfrm>
            <a:off x="813816" y="4526280"/>
            <a:ext cx="3072384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h_coupon_type  쿠폰 정의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h_coupon  발급 쿠폰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h_complaint  건의사항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h_helper / h_service_center  문의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h_alarm  알림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20"/>
          <p:cNvSpPr/>
          <p:nvPr/>
        </p:nvSpPr>
        <p:spPr>
          <a:xfrm>
            <a:off x="4343400" y="3995928"/>
            <a:ext cx="3575304" cy="2057400"/>
          </a:xfrm>
          <a:prstGeom prst="roundRect">
            <a:avLst>
              <a:gd fmla="val 4889" name="adj"/>
            </a:avLst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20"/>
          <p:cNvSpPr/>
          <p:nvPr/>
        </p:nvSpPr>
        <p:spPr>
          <a:xfrm>
            <a:off x="4599432" y="4215384"/>
            <a:ext cx="146304" cy="14630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20"/>
          <p:cNvSpPr/>
          <p:nvPr/>
        </p:nvSpPr>
        <p:spPr>
          <a:xfrm>
            <a:off x="4837176" y="4123944"/>
            <a:ext cx="2834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7C3AED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출석 · PT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20"/>
          <p:cNvSpPr/>
          <p:nvPr/>
        </p:nvSpPr>
        <p:spPr>
          <a:xfrm>
            <a:off x="6995160" y="4123944"/>
            <a:ext cx="685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A3A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4개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20"/>
          <p:cNvSpPr/>
          <p:nvPr/>
        </p:nvSpPr>
        <p:spPr>
          <a:xfrm>
            <a:off x="4608576" y="4526280"/>
            <a:ext cx="3072384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h_check_inout  출석 기록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h_pt_manage  PT 차감 원장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h_pt_schedule  수업 일정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h_time_congestion  시간대 혼잡도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20"/>
          <p:cNvSpPr/>
          <p:nvPr/>
        </p:nvSpPr>
        <p:spPr>
          <a:xfrm>
            <a:off x="8138160" y="3995928"/>
            <a:ext cx="3575304" cy="2057400"/>
          </a:xfrm>
          <a:prstGeom prst="roundRect">
            <a:avLst>
              <a:gd fmla="val 4889" name="adj"/>
            </a:avLst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20"/>
          <p:cNvSpPr/>
          <p:nvPr/>
        </p:nvSpPr>
        <p:spPr>
          <a:xfrm>
            <a:off x="8394192" y="4215384"/>
            <a:ext cx="146304" cy="146304"/>
          </a:xfrm>
          <a:prstGeom prst="ellipse">
            <a:avLst/>
          </a:prstGeom>
          <a:solidFill>
            <a:srgbClr val="C84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20"/>
          <p:cNvSpPr/>
          <p:nvPr/>
        </p:nvSpPr>
        <p:spPr>
          <a:xfrm>
            <a:off x="8631936" y="4123944"/>
            <a:ext cx="2834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4F00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C84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예측 · AI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20"/>
          <p:cNvSpPr/>
          <p:nvPr/>
        </p:nvSpPr>
        <p:spPr>
          <a:xfrm>
            <a:off x="10789920" y="4123944"/>
            <a:ext cx="685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A3A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7개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20"/>
          <p:cNvSpPr/>
          <p:nvPr/>
        </p:nvSpPr>
        <p:spPr>
          <a:xfrm>
            <a:off x="8403336" y="4526280"/>
            <a:ext cx="3072384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h_model_data  예측 입력 피처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h_churn_result  예측 결과 · 이력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h_survey  만족도 설문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h_dashboard_widget  위젯 설정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h_ai_conversation / h_ai_message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h_ai_tool_audit  도구 호출 감사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21"/>
          <p:cNvSpPr/>
          <p:nvPr/>
        </p:nvSpPr>
        <p:spPr>
          <a:xfrm>
            <a:off x="566928" y="402336"/>
            <a:ext cx="118872" cy="118872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21"/>
          <p:cNvSpPr/>
          <p:nvPr/>
        </p:nvSpPr>
        <p:spPr>
          <a:xfrm>
            <a:off x="777240" y="32918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4F00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C84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05 · DATA MODEL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21"/>
          <p:cNvSpPr/>
          <p:nvPr/>
        </p:nvSpPr>
        <p:spPr>
          <a:xfrm>
            <a:off x="548640" y="658368"/>
            <a:ext cx="10424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테이블 설계에서 내린 4가지 결정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21"/>
          <p:cNvSpPr/>
          <p:nvPr/>
        </p:nvSpPr>
        <p:spPr>
          <a:xfrm>
            <a:off x="576072" y="1225296"/>
            <a:ext cx="10424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구조를 왜 이렇게 잡았는지 — 각 결정은 대가와 함께 선택했다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21"/>
          <p:cNvSpPr/>
          <p:nvPr/>
        </p:nvSpPr>
        <p:spPr>
          <a:xfrm>
            <a:off x="11247120" y="626364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A3A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19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21"/>
          <p:cNvSpPr/>
          <p:nvPr/>
        </p:nvSpPr>
        <p:spPr>
          <a:xfrm>
            <a:off x="548640" y="1783080"/>
            <a:ext cx="5358384" cy="2057400"/>
          </a:xfrm>
          <a:prstGeom prst="roundRect">
            <a:avLst>
              <a:gd fmla="val 4889" name="adj"/>
            </a:avLst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21"/>
          <p:cNvSpPr/>
          <p:nvPr/>
        </p:nvSpPr>
        <p:spPr>
          <a:xfrm>
            <a:off x="786384" y="1965960"/>
            <a:ext cx="310896" cy="310896"/>
          </a:xfrm>
          <a:prstGeom prst="roundRect">
            <a:avLst>
              <a:gd fmla="val 20588" name="adj"/>
            </a:avLst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21"/>
          <p:cNvSpPr/>
          <p:nvPr/>
        </p:nvSpPr>
        <p:spPr>
          <a:xfrm>
            <a:off x="786384" y="196596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21"/>
          <p:cNvSpPr/>
          <p:nvPr/>
        </p:nvSpPr>
        <p:spPr>
          <a:xfrm>
            <a:off x="1188720" y="1947672"/>
            <a:ext cx="4526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단일 계약 테이블 + 주체 추상화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21"/>
          <p:cNvSpPr/>
          <p:nvPr/>
        </p:nvSpPr>
        <p:spPr>
          <a:xfrm>
            <a:off x="804672" y="2368296"/>
            <a:ext cx="48463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제휴·임금·이용권·PT·체험을 유형별 테이블로 나누지 않고 h_contract_data 하나로 처리했다. 역할 컬럼 없이 sender_id / receiver_id로만 표현하고, 실제 역할은 h_member 조인으로 파생한다.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21"/>
          <p:cNvSpPr/>
          <p:nvPr/>
        </p:nvSpPr>
        <p:spPr>
          <a:xfrm>
            <a:off x="795528" y="3136392"/>
            <a:ext cx="4864608" cy="566928"/>
          </a:xfrm>
          <a:prstGeom prst="roundRect">
            <a:avLst>
              <a:gd fmla="val 12903" name="adj"/>
            </a:avLst>
          </a:prstGeom>
          <a:solidFill>
            <a:srgbClr val="FFF0E8"/>
          </a:solidFill>
          <a:ln cap="flat" cmpd="sng" w="12700">
            <a:solidFill>
              <a:srgbClr val="FFF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21"/>
          <p:cNvSpPr/>
          <p:nvPr/>
        </p:nvSpPr>
        <p:spPr>
          <a:xfrm>
            <a:off x="914400" y="3136392"/>
            <a:ext cx="4663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얻은 것: 리스트·상세·서명 화면을 유형 무관하게 한 벌로 재사용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치른 것: 유형별 전용 컬럼이 null로 남고 조회 시 분기가 필요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21"/>
          <p:cNvSpPr/>
          <p:nvPr/>
        </p:nvSpPr>
        <p:spPr>
          <a:xfrm>
            <a:off x="6181344" y="1783080"/>
            <a:ext cx="5358384" cy="2057400"/>
          </a:xfrm>
          <a:prstGeom prst="roundRect">
            <a:avLst>
              <a:gd fmla="val 4889" name="adj"/>
            </a:avLst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21"/>
          <p:cNvSpPr/>
          <p:nvPr/>
        </p:nvSpPr>
        <p:spPr>
          <a:xfrm>
            <a:off x="6419088" y="1965960"/>
            <a:ext cx="310896" cy="310896"/>
          </a:xfrm>
          <a:prstGeom prst="roundRect">
            <a:avLst>
              <a:gd fmla="val 20588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21"/>
          <p:cNvSpPr/>
          <p:nvPr/>
        </p:nvSpPr>
        <p:spPr>
          <a:xfrm>
            <a:off x="6419088" y="196596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21"/>
          <p:cNvSpPr/>
          <p:nvPr/>
        </p:nvSpPr>
        <p:spPr>
          <a:xfrm>
            <a:off x="6821424" y="1947672"/>
            <a:ext cx="4526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계약 당사자에 FK를 걸지 않음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21"/>
          <p:cNvSpPr/>
          <p:nvPr/>
        </p:nvSpPr>
        <p:spPr>
          <a:xfrm>
            <a:off x="6437376" y="2368296"/>
            <a:ext cx="48463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sender_id·receiver_id에 FK가 없다. 아직 가입하지 않은 사람의 전화번호를 먼저 저장해야 계약서를 보낼 수 있기 때문이다. 서명이 완료되는 순간 자동 가입시킨다.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21"/>
          <p:cNvSpPr/>
          <p:nvPr/>
        </p:nvSpPr>
        <p:spPr>
          <a:xfrm>
            <a:off x="6428232" y="3136392"/>
            <a:ext cx="4864608" cy="566928"/>
          </a:xfrm>
          <a:prstGeom prst="roundRect">
            <a:avLst>
              <a:gd fmla="val 12903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21"/>
          <p:cNvSpPr/>
          <p:nvPr/>
        </p:nvSpPr>
        <p:spPr>
          <a:xfrm>
            <a:off x="6547104" y="3136392"/>
            <a:ext cx="4663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얻은 것: 미가입자에게 먼저 계약서를 보내는 실제 영업 흐름을 그대로 지원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치른 것: 조인 시 null 가능성을 항상 고려해 left join으로 작성해야 함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21"/>
          <p:cNvSpPr/>
          <p:nvPr/>
        </p:nvSpPr>
        <p:spPr>
          <a:xfrm>
            <a:off x="548640" y="3995928"/>
            <a:ext cx="5358384" cy="2057400"/>
          </a:xfrm>
          <a:prstGeom prst="roundRect">
            <a:avLst>
              <a:gd fmla="val 4889" name="adj"/>
            </a:avLst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21"/>
          <p:cNvSpPr/>
          <p:nvPr/>
        </p:nvSpPr>
        <p:spPr>
          <a:xfrm>
            <a:off x="786384" y="4178808"/>
            <a:ext cx="310896" cy="310896"/>
          </a:xfrm>
          <a:prstGeom prst="roundRect">
            <a:avLst>
              <a:gd fmla="val 20588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21"/>
          <p:cNvSpPr/>
          <p:nvPr/>
        </p:nvSpPr>
        <p:spPr>
          <a:xfrm>
            <a:off x="786384" y="4178808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21"/>
          <p:cNvSpPr/>
          <p:nvPr/>
        </p:nvSpPr>
        <p:spPr>
          <a:xfrm>
            <a:off x="1188720" y="4160520"/>
            <a:ext cx="4526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PT 차감을 별도 원장으로 분리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21"/>
          <p:cNvSpPr/>
          <p:nvPr/>
        </p:nvSpPr>
        <p:spPr>
          <a:xfrm>
            <a:off x="804672" y="4581144"/>
            <a:ext cx="48463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차감을 계약 테이블의 remaining_count를 깎는 방식이 아니라, h_pt_manage(계약당 1행)에서만 수행한다. 계약서의 quantity는 스냅샷으로 보존하고 절대 UPDATE하지 않는다.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21"/>
          <p:cNvSpPr/>
          <p:nvPr/>
        </p:nvSpPr>
        <p:spPr>
          <a:xfrm>
            <a:off x="795528" y="5349240"/>
            <a:ext cx="4864608" cy="566928"/>
          </a:xfrm>
          <a:prstGeom prst="roundRect">
            <a:avLst>
              <a:gd fmla="val 12903" name="adj"/>
            </a:avLst>
          </a:prstGeom>
          <a:solidFill>
            <a:srgbClr val="F3E8FF"/>
          </a:solidFill>
          <a:ln cap="flat" cmpd="sng" w="12700">
            <a:solidFill>
              <a:srgbClr val="F3E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21"/>
          <p:cNvSpPr/>
          <p:nvPr/>
        </p:nvSpPr>
        <p:spPr>
          <a:xfrm>
            <a:off x="914400" y="5349240"/>
            <a:ext cx="4663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얻은 것: 원 계약 조건이 훼손되지 않고, 출석 도메인이 계약 도메인을 건드리지 않음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치른 것: 잔여 횟수를 저장값이 아닌 계산식(quantity − used_count)으로 다뤄야 함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21"/>
          <p:cNvSpPr/>
          <p:nvPr/>
        </p:nvSpPr>
        <p:spPr>
          <a:xfrm>
            <a:off x="6181344" y="3995928"/>
            <a:ext cx="5358384" cy="2057400"/>
          </a:xfrm>
          <a:prstGeom prst="roundRect">
            <a:avLst>
              <a:gd fmla="val 4889" name="adj"/>
            </a:avLst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21"/>
          <p:cNvSpPr/>
          <p:nvPr/>
        </p:nvSpPr>
        <p:spPr>
          <a:xfrm>
            <a:off x="6419088" y="4178808"/>
            <a:ext cx="310896" cy="310896"/>
          </a:xfrm>
          <a:prstGeom prst="roundRect">
            <a:avLst>
              <a:gd fmla="val 20588" name="adj"/>
            </a:avLst>
          </a:prstGeom>
          <a:solidFill>
            <a:srgbClr val="1580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21"/>
          <p:cNvSpPr/>
          <p:nvPr/>
        </p:nvSpPr>
        <p:spPr>
          <a:xfrm>
            <a:off x="6419088" y="4178808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21"/>
          <p:cNvSpPr/>
          <p:nvPr/>
        </p:nvSpPr>
        <p:spPr>
          <a:xfrm>
            <a:off x="6821424" y="4160520"/>
            <a:ext cx="4526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상태를 boolean이 아닌 status 하나로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21"/>
          <p:cNvSpPr/>
          <p:nvPr/>
        </p:nvSpPr>
        <p:spPr>
          <a:xfrm>
            <a:off x="6437376" y="4581144"/>
            <a:ext cx="48463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만료 여부·활성 여부를 별도 플래그로 두지 않고 status 한 컬럼으로 일원화했다. EXPIRED를 없애고 종료는 TERMINATED로 통합, end_date 경과분은 조회 직전 sweep이 전이시킨다.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21"/>
          <p:cNvSpPr/>
          <p:nvPr/>
        </p:nvSpPr>
        <p:spPr>
          <a:xfrm>
            <a:off x="6428232" y="5349240"/>
            <a:ext cx="4864608" cy="566928"/>
          </a:xfrm>
          <a:prstGeom prst="roundRect">
            <a:avLst>
              <a:gd fmla="val 12903" name="adj"/>
            </a:avLst>
          </a:prstGeom>
          <a:solidFill>
            <a:srgbClr val="F0FDF4"/>
          </a:solidFill>
          <a:ln cap="flat" cmpd="sng" w="12700">
            <a:solidFill>
              <a:srgbClr val="F0F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21"/>
          <p:cNvSpPr/>
          <p:nvPr/>
        </p:nvSpPr>
        <p:spPr>
          <a:xfrm>
            <a:off x="6547104" y="5349240"/>
            <a:ext cx="4663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얻은 것: 플래그 간 불일치가 생길 여지 자체를 제거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치른 것: 조회 전 sweep 호출을 빠뜨리면 만료 계약이 잠시 활성으로 보임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7"/>
        </a:solidFill>
      </p:bgPr>
    </p:bg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22"/>
          <p:cNvSpPr/>
          <p:nvPr/>
        </p:nvSpPr>
        <p:spPr>
          <a:xfrm>
            <a:off x="822960" y="2514600"/>
            <a:ext cx="164592" cy="164592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22"/>
          <p:cNvSpPr/>
          <p:nvPr/>
        </p:nvSpPr>
        <p:spPr>
          <a:xfrm>
            <a:off x="1097280" y="2432304"/>
            <a:ext cx="5486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FF6B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06 · TROUBLESHOOTING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22"/>
          <p:cNvSpPr/>
          <p:nvPr/>
        </p:nvSpPr>
        <p:spPr>
          <a:xfrm>
            <a:off x="804672" y="2834640"/>
            <a:ext cx="6400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Malgun Gothic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트러블 슈팅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22"/>
          <p:cNvSpPr/>
          <p:nvPr/>
        </p:nvSpPr>
        <p:spPr>
          <a:xfrm>
            <a:off x="841248" y="3712464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500"/>
              <a:buFont typeface="Malgun Gothic"/>
              <a:buNone/>
            </a:pPr>
            <a:r>
              <a:rPr b="0" i="0" lang="en-US" sz="1500" u="none" cap="none" strike="noStrike">
                <a:solidFill>
                  <a:srgbClr val="9E9E9E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실제로 부딪혔고, 고민한 흔적이 남은 세 가지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22"/>
          <p:cNvSpPr/>
          <p:nvPr/>
        </p:nvSpPr>
        <p:spPr>
          <a:xfrm>
            <a:off x="6766560" y="1463040"/>
            <a:ext cx="4846320" cy="1188720"/>
          </a:xfrm>
          <a:prstGeom prst="roundRect">
            <a:avLst>
              <a:gd fmla="val 9231" name="adj"/>
            </a:avLst>
          </a:prstGeom>
          <a:solidFill>
            <a:srgbClr val="212121"/>
          </a:solidFill>
          <a:ln cap="flat" cmpd="sng" w="12700">
            <a:solidFill>
              <a:srgbClr val="2E2E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22"/>
          <p:cNvSpPr/>
          <p:nvPr/>
        </p:nvSpPr>
        <p:spPr>
          <a:xfrm>
            <a:off x="7022592" y="1664208"/>
            <a:ext cx="731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FF6B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22"/>
          <p:cNvSpPr/>
          <p:nvPr/>
        </p:nvSpPr>
        <p:spPr>
          <a:xfrm>
            <a:off x="7772400" y="1682496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알림 하나가 정산을 되돌렸다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22"/>
          <p:cNvSpPr/>
          <p:nvPr/>
        </p:nvSpPr>
        <p:spPr>
          <a:xfrm>
            <a:off x="7781544" y="202996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8E8E8E"/>
                </a:solidFill>
                <a:latin typeface="Malgun Gothic"/>
                <a:ea typeface="Malgun Gothic"/>
                <a:cs typeface="Malgun Gothic"/>
                <a:sym typeface="Malgun Gothic"/>
              </a:rPr>
              <a:t>트랜잭션 경계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22"/>
          <p:cNvSpPr/>
          <p:nvPr/>
        </p:nvSpPr>
        <p:spPr>
          <a:xfrm>
            <a:off x="6766560" y="2880360"/>
            <a:ext cx="4846320" cy="1188720"/>
          </a:xfrm>
          <a:prstGeom prst="roundRect">
            <a:avLst>
              <a:gd fmla="val 9231" name="adj"/>
            </a:avLst>
          </a:prstGeom>
          <a:solidFill>
            <a:srgbClr val="212121"/>
          </a:solidFill>
          <a:ln cap="flat" cmpd="sng" w="12700">
            <a:solidFill>
              <a:srgbClr val="2E2E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22"/>
          <p:cNvSpPr/>
          <p:nvPr/>
        </p:nvSpPr>
        <p:spPr>
          <a:xfrm>
            <a:off x="7022592" y="3081528"/>
            <a:ext cx="731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FF6B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22"/>
          <p:cNvSpPr/>
          <p:nvPr/>
        </p:nvSpPr>
        <p:spPr>
          <a:xfrm>
            <a:off x="7772400" y="3099816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페이지네이션이 어긋나는 조인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22"/>
          <p:cNvSpPr/>
          <p:nvPr/>
        </p:nvSpPr>
        <p:spPr>
          <a:xfrm>
            <a:off x="7781544" y="344728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8E8E8E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정합성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22"/>
          <p:cNvSpPr/>
          <p:nvPr/>
        </p:nvSpPr>
        <p:spPr>
          <a:xfrm>
            <a:off x="6766560" y="4297680"/>
            <a:ext cx="4846320" cy="1188720"/>
          </a:xfrm>
          <a:prstGeom prst="roundRect">
            <a:avLst>
              <a:gd fmla="val 9231" name="adj"/>
            </a:avLst>
          </a:prstGeom>
          <a:solidFill>
            <a:srgbClr val="212121"/>
          </a:solidFill>
          <a:ln cap="flat" cmpd="sng" w="12700">
            <a:solidFill>
              <a:srgbClr val="2E2E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22"/>
          <p:cNvSpPr/>
          <p:nvPr/>
        </p:nvSpPr>
        <p:spPr>
          <a:xfrm>
            <a:off x="7022592" y="4498848"/>
            <a:ext cx="731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FF6B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22"/>
          <p:cNvSpPr/>
          <p:nvPr/>
        </p:nvSpPr>
        <p:spPr>
          <a:xfrm>
            <a:off x="7772400" y="4517136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도메인 소유권 충돌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22"/>
          <p:cNvSpPr/>
          <p:nvPr/>
        </p:nvSpPr>
        <p:spPr>
          <a:xfrm>
            <a:off x="7781544" y="486460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8E8E8E"/>
                </a:solidFill>
                <a:latin typeface="Malgun Gothic"/>
                <a:ea typeface="Malgun Gothic"/>
                <a:cs typeface="Malgun Gothic"/>
                <a:sym typeface="Malgun Gothic"/>
              </a:rPr>
              <a:t>협업 구조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22"/>
          <p:cNvSpPr/>
          <p:nvPr/>
        </p:nvSpPr>
        <p:spPr>
          <a:xfrm>
            <a:off x="11247120" y="626364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5E5E5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23"/>
          <p:cNvSpPr/>
          <p:nvPr/>
        </p:nvSpPr>
        <p:spPr>
          <a:xfrm>
            <a:off x="566928" y="402336"/>
            <a:ext cx="118872" cy="118872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23"/>
          <p:cNvSpPr/>
          <p:nvPr/>
        </p:nvSpPr>
        <p:spPr>
          <a:xfrm>
            <a:off x="777240" y="32918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4F00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C84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06 · TROUBLESHOOTING ①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23"/>
          <p:cNvSpPr/>
          <p:nvPr/>
        </p:nvSpPr>
        <p:spPr>
          <a:xfrm>
            <a:off x="548640" y="658368"/>
            <a:ext cx="10424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알림 하나가 정산 전체를 되돌린 문제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23"/>
          <p:cNvSpPr/>
          <p:nvPr/>
        </p:nvSpPr>
        <p:spPr>
          <a:xfrm>
            <a:off x="576072" y="1225296"/>
            <a:ext cx="10424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부수 효과를 본 트랜잭션 안에 둔 대가 — 무엇을 함께 롤백할 것인가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23"/>
          <p:cNvSpPr/>
          <p:nvPr/>
        </p:nvSpPr>
        <p:spPr>
          <a:xfrm>
            <a:off x="11247120" y="626364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A3A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21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23"/>
          <p:cNvSpPr/>
          <p:nvPr/>
        </p:nvSpPr>
        <p:spPr>
          <a:xfrm>
            <a:off x="548640" y="1783080"/>
            <a:ext cx="5029200" cy="2395728"/>
          </a:xfrm>
          <a:prstGeom prst="roundRect">
            <a:avLst>
              <a:gd fmla="val 4198" name="adj"/>
            </a:avLst>
          </a:prstGeom>
          <a:solidFill>
            <a:srgbClr val="171717"/>
          </a:solidFill>
          <a:ln cap="flat" cmpd="sng" w="12700">
            <a:solidFill>
              <a:srgbClr val="17171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23"/>
          <p:cNvSpPr/>
          <p:nvPr/>
        </p:nvSpPr>
        <p:spPr>
          <a:xfrm>
            <a:off x="804672" y="19202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FF6B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무슨 일이 있었나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23"/>
          <p:cNvSpPr/>
          <p:nvPr/>
        </p:nvSpPr>
        <p:spPr>
          <a:xfrm>
            <a:off x="813816" y="2249424"/>
            <a:ext cx="457200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D0D0D0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D0D0D0"/>
                </a:solidFill>
                <a:latin typeface="Malgun Gothic"/>
                <a:ea typeface="Malgun Gothic"/>
                <a:cs typeface="Malgun Gothic"/>
                <a:sym typeface="Malgun Gothic"/>
              </a:rPr>
              <a:t>월 정산 생성 배치는 ① 지점별 커미션 계산 → ② 정산 저장 → ③ 사장님에게 알림 발송 순서로 돌아간다. 세 단계가 하나의 @Transactional 안에 있었다.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D0D0D0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D0D0D0"/>
                </a:solidFill>
                <a:latin typeface="Malgun Gothic"/>
                <a:ea typeface="Malgun Gothic"/>
                <a:cs typeface="Malgun Gothic"/>
                <a:sym typeface="Malgun Gothic"/>
              </a:rPr>
              <a:t>알림 발송은 알림 저장과 SSE 푸시를 함께 하는데, 수신자가 접속해 있지 않거나 이미터가 끊겨 있으면 예외가 난다. 그 예외가 트랜잭션을 타고 올라와 앞의 정산 INSERT까지 전부 롤백시켰다.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D0D0D0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D0D0D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정산은 계산이 끝나 있었는데, 알림을 못 보냈다는 이유로 없던 일이 됐다.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23"/>
          <p:cNvSpPr/>
          <p:nvPr/>
        </p:nvSpPr>
        <p:spPr>
          <a:xfrm>
            <a:off x="5760720" y="1783080"/>
            <a:ext cx="5861304" cy="1133856"/>
          </a:xfrm>
          <a:prstGeom prst="roundRect">
            <a:avLst>
              <a:gd fmla="val 8871" name="adj"/>
            </a:avLst>
          </a:prstGeom>
          <a:solidFill>
            <a:srgbClr val="FEF2F2"/>
          </a:solidFill>
          <a:ln cap="flat" cmpd="sng" w="12700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23"/>
          <p:cNvSpPr/>
          <p:nvPr/>
        </p:nvSpPr>
        <p:spPr>
          <a:xfrm>
            <a:off x="6016752" y="1883664"/>
            <a:ext cx="5394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B91C1C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 — 알림을 본 로직과 같은 트랜잭션에 둠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23"/>
          <p:cNvSpPr/>
          <p:nvPr/>
        </p:nvSpPr>
        <p:spPr>
          <a:xfrm>
            <a:off x="6025896" y="2176272"/>
            <a:ext cx="5394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generate() { 커미션 계산 → INSERT → alarmService.sendAlarm() 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알림 예외 = 정산 실패. 되돌릴 필요가 없는 일이 함께 되돌려진다.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23"/>
          <p:cNvSpPr/>
          <p:nvPr/>
        </p:nvSpPr>
        <p:spPr>
          <a:xfrm>
            <a:off x="5760720" y="3044952"/>
            <a:ext cx="5861304" cy="1133856"/>
          </a:xfrm>
          <a:prstGeom prst="roundRect">
            <a:avLst>
              <a:gd fmla="val 8871" name="adj"/>
            </a:avLst>
          </a:prstGeom>
          <a:solidFill>
            <a:srgbClr val="F0FDF4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23"/>
          <p:cNvSpPr/>
          <p:nvPr/>
        </p:nvSpPr>
        <p:spPr>
          <a:xfrm>
            <a:off x="6016752" y="3145536"/>
            <a:ext cx="5394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15803D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변경 — sendAlarmSafely()로 예외를 도메인 안에서 흡수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23"/>
          <p:cNvSpPr/>
          <p:nvPr/>
        </p:nvSpPr>
        <p:spPr>
          <a:xfrm>
            <a:off x="6025896" y="3438144"/>
            <a:ext cx="5394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sendAlarmSafely(...) { try { sendAlarm(...) } catch (Exception e) { log } 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알림이 실패해도 정산은 커밋된다. 실패 사실은 서버 로그로만 남는다.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23"/>
          <p:cNvSpPr/>
          <p:nvPr/>
        </p:nvSpPr>
        <p:spPr>
          <a:xfrm>
            <a:off x="548640" y="4361688"/>
            <a:ext cx="11073384" cy="932688"/>
          </a:xfrm>
          <a:prstGeom prst="roundRect">
            <a:avLst>
              <a:gd fmla="val 10784" name="adj"/>
            </a:avLst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23"/>
          <p:cNvSpPr/>
          <p:nvPr/>
        </p:nvSpPr>
        <p:spPr>
          <a:xfrm>
            <a:off x="841248" y="4462272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같은 패턴을 적용한 곳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23"/>
          <p:cNvSpPr/>
          <p:nvPr/>
        </p:nvSpPr>
        <p:spPr>
          <a:xfrm>
            <a:off x="841248" y="4864608"/>
            <a:ext cx="118872" cy="118872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23"/>
          <p:cNvSpPr/>
          <p:nvPr/>
        </p:nvSpPr>
        <p:spPr>
          <a:xfrm>
            <a:off x="1060704" y="4773168"/>
            <a:ext cx="3291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정산 · 지출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23"/>
          <p:cNvSpPr/>
          <p:nvPr/>
        </p:nvSpPr>
        <p:spPr>
          <a:xfrm>
            <a:off x="1069848" y="5010912"/>
            <a:ext cx="3291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SETTLE_BATCH · SETTLE_RECALC · CONTRACT_WAIT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23"/>
          <p:cNvSpPr/>
          <p:nvPr/>
        </p:nvSpPr>
        <p:spPr>
          <a:xfrm>
            <a:off x="4453128" y="4864608"/>
            <a:ext cx="118872" cy="118872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23"/>
          <p:cNvSpPr/>
          <p:nvPr/>
        </p:nvSpPr>
        <p:spPr>
          <a:xfrm>
            <a:off x="4672584" y="4773168"/>
            <a:ext cx="3291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출석 · 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23"/>
          <p:cNvSpPr/>
          <p:nvPr/>
        </p:nvSpPr>
        <p:spPr>
          <a:xfrm>
            <a:off x="4681728" y="5010912"/>
            <a:ext cx="3291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PT_CHECKIN · PT_REMIND · PT_REBOOK 3종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23"/>
          <p:cNvSpPr/>
          <p:nvPr/>
        </p:nvSpPr>
        <p:spPr>
          <a:xfrm>
            <a:off x="8065008" y="4864608"/>
            <a:ext cx="118872" cy="118872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23"/>
          <p:cNvSpPr/>
          <p:nvPr/>
        </p:nvSpPr>
        <p:spPr>
          <a:xfrm>
            <a:off x="8284464" y="4773168"/>
            <a:ext cx="3291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비서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23"/>
          <p:cNvSpPr/>
          <p:nvPr/>
        </p:nvSpPr>
        <p:spPr>
          <a:xfrm>
            <a:off x="8293608" y="5010912"/>
            <a:ext cx="3291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크레딧 소진 ADMIN 알림 (24시간 쿨다운)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23"/>
          <p:cNvSpPr/>
          <p:nvPr/>
        </p:nvSpPr>
        <p:spPr>
          <a:xfrm>
            <a:off x="548640" y="5440680"/>
            <a:ext cx="6583680" cy="786384"/>
          </a:xfrm>
          <a:prstGeom prst="roundRect">
            <a:avLst>
              <a:gd fmla="val 12791" name="adj"/>
            </a:avLst>
          </a:prstGeom>
          <a:solidFill>
            <a:srgbClr val="FFF0E8"/>
          </a:solidFill>
          <a:ln cap="flat" cmpd="sng" w="12700">
            <a:solidFill>
              <a:srgbClr val="FFE4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23"/>
          <p:cNvSpPr/>
          <p:nvPr/>
        </p:nvSpPr>
        <p:spPr>
          <a:xfrm>
            <a:off x="822960" y="5440680"/>
            <a:ext cx="626364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C84F00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C84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배운 것   </a:t>
            </a:r>
            <a:r>
              <a:rPr b="0" i="0" lang="en-US" sz="105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트랜잭션에 무엇을 넣을지는 "실패했을 때 되돌려야 하는가"로 판단한다. 알림은 되돌릴 대상이 아니라 통지다. 반대로 결제-쿠폰-매출은 하나라도 어긋나면 안 되므로 반드시 같은 트랜잭션에 둔다.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23"/>
          <p:cNvSpPr/>
          <p:nvPr/>
        </p:nvSpPr>
        <p:spPr>
          <a:xfrm>
            <a:off x="7370064" y="5440680"/>
            <a:ext cx="4251960" cy="786384"/>
          </a:xfrm>
          <a:prstGeom prst="roundRect">
            <a:avLst>
              <a:gd fmla="val 12791" name="adj"/>
            </a:avLst>
          </a:prstGeom>
          <a:solidFill>
            <a:srgbClr val="FAFAF8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23"/>
          <p:cNvSpPr/>
          <p:nvPr/>
        </p:nvSpPr>
        <p:spPr>
          <a:xfrm>
            <a:off x="7626096" y="5440680"/>
            <a:ext cx="393192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950"/>
              <a:buFont typeface="Malgun Gothic"/>
              <a:buNone/>
            </a:pPr>
            <a:r>
              <a:rPr b="1" i="0" lang="en-US" sz="95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같은 뿌리의 다른 사례   </a:t>
            </a:r>
            <a:r>
              <a:rPr b="0" i="0" lang="en-US" sz="9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구직 트레이너 판정을 파생 플래그(회원 상태 플래그)로 하다 동기화가 깨져, 원천인 최신 임금계약의 status 기준으로 바꿨다.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24"/>
          <p:cNvSpPr/>
          <p:nvPr/>
        </p:nvSpPr>
        <p:spPr>
          <a:xfrm>
            <a:off x="566928" y="402336"/>
            <a:ext cx="118872" cy="118872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24"/>
          <p:cNvSpPr/>
          <p:nvPr/>
        </p:nvSpPr>
        <p:spPr>
          <a:xfrm>
            <a:off x="777240" y="32918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4F00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C84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06 · TROUBLESHOOTING ②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24"/>
          <p:cNvSpPr/>
          <p:nvPr/>
        </p:nvSpPr>
        <p:spPr>
          <a:xfrm>
            <a:off x="548640" y="658368"/>
            <a:ext cx="10424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목록과 페이지 번호가 어긋나는 조인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24"/>
          <p:cNvSpPr/>
          <p:nvPr/>
        </p:nvSpPr>
        <p:spPr>
          <a:xfrm>
            <a:off x="576072" y="1225296"/>
            <a:ext cx="10424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행 팽창과 조건 불일치 — 눈에 잘 띄지 않는 정합성 버그 두 건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24"/>
          <p:cNvSpPr/>
          <p:nvPr/>
        </p:nvSpPr>
        <p:spPr>
          <a:xfrm>
            <a:off x="11247120" y="626364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A3A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22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24"/>
          <p:cNvSpPr/>
          <p:nvPr/>
        </p:nvSpPr>
        <p:spPr>
          <a:xfrm>
            <a:off x="548640" y="1783080"/>
            <a:ext cx="5541264" cy="2121408"/>
          </a:xfrm>
          <a:prstGeom prst="roundRect">
            <a:avLst>
              <a:gd fmla="val 4741" name="adj"/>
            </a:avLst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24"/>
          <p:cNvSpPr/>
          <p:nvPr/>
        </p:nvSpPr>
        <p:spPr>
          <a:xfrm>
            <a:off x="786384" y="1956816"/>
            <a:ext cx="1371600" cy="274320"/>
          </a:xfrm>
          <a:prstGeom prst="roundRect">
            <a:avLst>
              <a:gd fmla="val 50000" name="adj"/>
            </a:avLst>
          </a:prstGeom>
          <a:solidFill>
            <a:srgbClr val="FEF2F2"/>
          </a:solidFill>
          <a:ln cap="flat" cmpd="sng" w="12700">
            <a:solidFill>
              <a:srgbClr val="FE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24"/>
          <p:cNvSpPr/>
          <p:nvPr/>
        </p:nvSpPr>
        <p:spPr>
          <a:xfrm>
            <a:off x="786384" y="1956816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B91C1C"/>
                </a:solidFill>
                <a:latin typeface="Malgun Gothic"/>
                <a:ea typeface="Malgun Gothic"/>
                <a:cs typeface="Malgun Gothic"/>
                <a:sym typeface="Malgun Gothic"/>
              </a:rPr>
              <a:t>CASE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24"/>
          <p:cNvSpPr/>
          <p:nvPr/>
        </p:nvSpPr>
        <p:spPr>
          <a:xfrm>
            <a:off x="2286000" y="195681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매출 목록 조인 시 행이 팽창한다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24"/>
          <p:cNvSpPr/>
          <p:nvPr/>
        </p:nvSpPr>
        <p:spPr>
          <a:xfrm>
            <a:off x="804672" y="2340864"/>
            <a:ext cx="5047488" cy="1444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 — 결제 상세 테이블에 유니크 제약이 없다. 매출에 결제 상세를 일반 조인으로 붙이면 매출 1건이 여러 행으로 늘어난다.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80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 — 목록 쿼리의 행 수와 countList의 건수가 어긋나 페이지 버튼이 실제와 맞지 않게 된다. 화면에는 같은 결제가 중복으로 보인다.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80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해결 — LEFT JOIN LATERAL … LIMIT 1로 결제 상세를 매출당 정확히 1건만 끌어오도록 고정. 조인이 아니라 "대표 1건 선택"으로 의미를 바꿨다.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24"/>
          <p:cNvSpPr/>
          <p:nvPr/>
        </p:nvSpPr>
        <p:spPr>
          <a:xfrm>
            <a:off x="6272784" y="1783080"/>
            <a:ext cx="5349240" cy="2121408"/>
          </a:xfrm>
          <a:prstGeom prst="roundRect">
            <a:avLst>
              <a:gd fmla="val 4741" name="adj"/>
            </a:avLst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24"/>
          <p:cNvSpPr/>
          <p:nvPr/>
        </p:nvSpPr>
        <p:spPr>
          <a:xfrm>
            <a:off x="6510528" y="1956816"/>
            <a:ext cx="1371600" cy="274320"/>
          </a:xfrm>
          <a:prstGeom prst="roundRect">
            <a:avLst>
              <a:gd fmla="val 50000" name="adj"/>
            </a:avLst>
          </a:prstGeom>
          <a:solidFill>
            <a:srgbClr val="FEF3C7"/>
          </a:solidFill>
          <a:ln cap="flat" cmpd="sng" w="12700">
            <a:solidFill>
              <a:srgbClr val="FEF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24"/>
          <p:cNvSpPr/>
          <p:nvPr/>
        </p:nvSpPr>
        <p:spPr>
          <a:xfrm>
            <a:off x="6510528" y="1956816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92400E"/>
                </a:solidFill>
                <a:latin typeface="Malgun Gothic"/>
                <a:ea typeface="Malgun Gothic"/>
                <a:cs typeface="Malgun Gothic"/>
                <a:sym typeface="Malgun Gothic"/>
              </a:rPr>
              <a:t>CASE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24"/>
          <p:cNvSpPr/>
          <p:nvPr/>
        </p:nvSpPr>
        <p:spPr>
          <a:xfrm>
            <a:off x="8010144" y="1956816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목록 8개인데 페이지는 10개 기준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24"/>
          <p:cNvSpPr/>
          <p:nvPr/>
        </p:nvSpPr>
        <p:spPr>
          <a:xfrm>
            <a:off x="6528816" y="2340864"/>
            <a:ext cx="4864608" cy="1444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 — 물품 목록에서 재고 0을 감추려고 itemList에만 재고 0 제외 조건을 추가했다.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80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 — 목록은 8건인데 건수 쿼리는 여전히 10건을 세서 페이지 버튼이 어긋나고, CSV에는 재고 0이 그대로 나갔다.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80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해결 — list · listCount · listAll(CSV) 세 쿼리의 where/having 조건을 완전히 동일하게 유지하는 규칙을 정산·지출·물품 전체에 적용했다.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24"/>
          <p:cNvSpPr/>
          <p:nvPr/>
        </p:nvSpPr>
        <p:spPr>
          <a:xfrm>
            <a:off x="548640" y="4114800"/>
            <a:ext cx="11073384" cy="1051560"/>
          </a:xfrm>
          <a:prstGeom prst="roundRect">
            <a:avLst>
              <a:gd fmla="val 9565" name="adj"/>
            </a:avLst>
          </a:prstGeom>
          <a:solidFill>
            <a:srgbClr val="FFF0E8"/>
          </a:solidFill>
          <a:ln cap="flat" cmpd="sng" w="12700">
            <a:solidFill>
              <a:srgbClr val="FFE4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24"/>
          <p:cNvSpPr/>
          <p:nvPr/>
        </p:nvSpPr>
        <p:spPr>
          <a:xfrm>
            <a:off x="841248" y="4242816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4F00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C84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공통 원인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24"/>
          <p:cNvSpPr/>
          <p:nvPr/>
        </p:nvSpPr>
        <p:spPr>
          <a:xfrm>
            <a:off x="850392" y="4535424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826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목록 화면 하나에는 쿼리가 최소 3개(페이지 목록 · 총 건수 · CSV 전체) 붙는데, 이들이 서로 다른 조건을 갖는 순간 화면은 조용히 틀린 값을 보여준다. 예외가 나지 않아 발견이 늦다는 것이 진짜 위험이다.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24"/>
          <p:cNvSpPr/>
          <p:nvPr/>
        </p:nvSpPr>
        <p:spPr>
          <a:xfrm>
            <a:off x="548640" y="5330952"/>
            <a:ext cx="3575304" cy="786384"/>
          </a:xfrm>
          <a:prstGeom prst="roundRect">
            <a:avLst>
              <a:gd fmla="val 11628" name="adj"/>
            </a:avLst>
          </a:prstGeom>
          <a:solidFill>
            <a:srgbClr val="FAFAF8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24"/>
          <p:cNvSpPr/>
          <p:nvPr/>
        </p:nvSpPr>
        <p:spPr>
          <a:xfrm>
            <a:off x="786384" y="5422392"/>
            <a:ext cx="3108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조건은 한 곳에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24"/>
          <p:cNvSpPr/>
          <p:nvPr/>
        </p:nvSpPr>
        <p:spPr>
          <a:xfrm>
            <a:off x="795528" y="5660136"/>
            <a:ext cx="3127248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&lt;sql&gt; 조각으로 공통 조건을 뽑아 세 쿼리가 같은 조각을 include 하도록 정리 — 사람의 주의력에 의존하지 않게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24"/>
          <p:cNvSpPr/>
          <p:nvPr/>
        </p:nvSpPr>
        <p:spPr>
          <a:xfrm>
            <a:off x="4343400" y="5330952"/>
            <a:ext cx="3575304" cy="786384"/>
          </a:xfrm>
          <a:prstGeom prst="roundRect">
            <a:avLst>
              <a:gd fmla="val 11628" name="adj"/>
            </a:avLst>
          </a:prstGeom>
          <a:solidFill>
            <a:srgbClr val="FAFAF8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24"/>
          <p:cNvSpPr/>
          <p:nvPr/>
        </p:nvSpPr>
        <p:spPr>
          <a:xfrm>
            <a:off x="4581144" y="5422392"/>
            <a:ext cx="3108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정렬 2차 키 고정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24"/>
          <p:cNvSpPr/>
          <p:nvPr/>
        </p:nvSpPr>
        <p:spPr>
          <a:xfrm>
            <a:off x="4590288" y="5660136"/>
            <a:ext cx="3127248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동점 시 순서가 흔들려 페이지 간 중복·누락이 생기지 않도록 PK를 2차 정렬 키로 항상 추가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24"/>
          <p:cNvSpPr/>
          <p:nvPr/>
        </p:nvSpPr>
        <p:spPr>
          <a:xfrm>
            <a:off x="8138160" y="5330952"/>
            <a:ext cx="3575304" cy="786384"/>
          </a:xfrm>
          <a:prstGeom prst="roundRect">
            <a:avLst>
              <a:gd fmla="val 11628" name="adj"/>
            </a:avLst>
          </a:prstGeom>
          <a:solidFill>
            <a:srgbClr val="FAFAF8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24"/>
          <p:cNvSpPr/>
          <p:nvPr/>
        </p:nvSpPr>
        <p:spPr>
          <a:xfrm>
            <a:off x="8375904" y="5422392"/>
            <a:ext cx="3108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검증 문서화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24"/>
          <p:cNvSpPr/>
          <p:nvPr/>
        </p:nvSpPr>
        <p:spPr>
          <a:xfrm>
            <a:off x="8385048" y="5660136"/>
            <a:ext cx="3127248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72개 include 참조를 전수 파싱해 미해결 0건을 확인하고 변경점검 목록으로 남김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25"/>
          <p:cNvSpPr/>
          <p:nvPr/>
        </p:nvSpPr>
        <p:spPr>
          <a:xfrm>
            <a:off x="566928" y="402336"/>
            <a:ext cx="118872" cy="118872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25"/>
          <p:cNvSpPr/>
          <p:nvPr/>
        </p:nvSpPr>
        <p:spPr>
          <a:xfrm>
            <a:off x="777240" y="32918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4F00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C84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06 · TROUBLESHOOTING ③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25"/>
          <p:cNvSpPr/>
          <p:nvPr/>
        </p:nvSpPr>
        <p:spPr>
          <a:xfrm>
            <a:off x="548640" y="658368"/>
            <a:ext cx="10424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도메인 소유권 충돌 — PT 차감을 누가 하는가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25"/>
          <p:cNvSpPr/>
          <p:nvPr/>
        </p:nvSpPr>
        <p:spPr>
          <a:xfrm>
            <a:off x="576072" y="1225296"/>
            <a:ext cx="10424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5명이 병렬로 개발할 때 가장 자주 부딪힌 문제는 코드가 아니라 경계였다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25"/>
          <p:cNvSpPr/>
          <p:nvPr/>
        </p:nvSpPr>
        <p:spPr>
          <a:xfrm>
            <a:off x="11247120" y="626364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A3A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23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25"/>
          <p:cNvSpPr/>
          <p:nvPr/>
        </p:nvSpPr>
        <p:spPr>
          <a:xfrm>
            <a:off x="548640" y="1783080"/>
            <a:ext cx="5440680" cy="1874520"/>
          </a:xfrm>
          <a:prstGeom prst="roundRect">
            <a:avLst>
              <a:gd fmla="val 5366" name="adj"/>
            </a:avLst>
          </a:prstGeom>
          <a:solidFill>
            <a:srgbClr val="FEF2F2"/>
          </a:solidFill>
          <a:ln cap="flat" cmpd="sng" w="12700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25"/>
          <p:cNvSpPr/>
          <p:nvPr/>
        </p:nvSpPr>
        <p:spPr>
          <a:xfrm>
            <a:off x="804672" y="19202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B91C1C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상황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25"/>
          <p:cNvSpPr/>
          <p:nvPr/>
        </p:nvSpPr>
        <p:spPr>
          <a:xfrm>
            <a:off x="813816" y="2231136"/>
            <a:ext cx="4983480" cy="1298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출석(내 담당)에서 PT 수업을 소진하면 잔여 횟수가 줄어야 한다. 그런데 잔여 횟수의 원천인 계약 테이블은 계약 담당자의 도메인이다.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출석 로직이 계약 테이블을 UPDATE하면 두 사람이 같은 테이블의 쓰기 경로를 나눠 갖게 되고, 계약서의 원래 조건도 훼손된다.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25"/>
          <p:cNvSpPr/>
          <p:nvPr/>
        </p:nvSpPr>
        <p:spPr>
          <a:xfrm>
            <a:off x="6181344" y="1783080"/>
            <a:ext cx="5440680" cy="1874520"/>
          </a:xfrm>
          <a:prstGeom prst="roundRect">
            <a:avLst>
              <a:gd fmla="val 5366" name="adj"/>
            </a:avLst>
          </a:prstGeom>
          <a:solidFill>
            <a:srgbClr val="F0FDF4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25"/>
          <p:cNvSpPr/>
          <p:nvPr/>
        </p:nvSpPr>
        <p:spPr>
          <a:xfrm>
            <a:off x="6437376" y="19202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15803D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해결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25"/>
          <p:cNvSpPr/>
          <p:nvPr/>
        </p:nvSpPr>
        <p:spPr>
          <a:xfrm>
            <a:off x="6446520" y="2231136"/>
            <a:ext cx="4983480" cy="1298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출석 도메인이 소유하는 차감 원장을 신설했다(계약당 1행).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계약 테이블은 SELECT만 하고, 차감은 원장의 사용 횟수에서만 일어난다. 계약의 총 횟수는 계약서 스냅샷으로 영원히 보존된다.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25"/>
          <p:cNvSpPr/>
          <p:nvPr/>
        </p:nvSpPr>
        <p:spPr>
          <a:xfrm>
            <a:off x="548640" y="3867912"/>
            <a:ext cx="11073384" cy="1298448"/>
          </a:xfrm>
          <a:prstGeom prst="roundRect">
            <a:avLst>
              <a:gd fmla="val 7746" name="adj"/>
            </a:avLst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25"/>
          <p:cNvSpPr/>
          <p:nvPr/>
        </p:nvSpPr>
        <p:spPr>
          <a:xfrm>
            <a:off x="841248" y="400507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경계 설계 — 서로의 도메인을 호출로만 연결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25"/>
          <p:cNvSpPr/>
          <p:nvPr/>
        </p:nvSpPr>
        <p:spPr>
          <a:xfrm>
            <a:off x="841248" y="4334256"/>
            <a:ext cx="1417320" cy="274320"/>
          </a:xfrm>
          <a:prstGeom prst="roundRect">
            <a:avLst>
              <a:gd fmla="val 50000" name="adj"/>
            </a:avLst>
          </a:prstGeom>
          <a:solidFill>
            <a:srgbClr val="F5F5F5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25"/>
          <p:cNvSpPr/>
          <p:nvPr/>
        </p:nvSpPr>
        <p:spPr>
          <a:xfrm>
            <a:off x="841248" y="4334256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계약 → 출석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25"/>
          <p:cNvSpPr/>
          <p:nvPr/>
        </p:nvSpPr>
        <p:spPr>
          <a:xfrm>
            <a:off x="850392" y="4645152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계약 담당자는 소진 완료 표시를 소비해 계약 중지 로직을 독립 구현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25"/>
          <p:cNvSpPr/>
          <p:nvPr/>
        </p:nvSpPr>
        <p:spPr>
          <a:xfrm>
            <a:off x="4453128" y="4334256"/>
            <a:ext cx="1417320" cy="274320"/>
          </a:xfrm>
          <a:prstGeom prst="roundRect">
            <a:avLst>
              <a:gd fmla="val 50000" name="adj"/>
            </a:avLst>
          </a:prstGeom>
          <a:solidFill>
            <a:srgbClr val="F5F5F5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25"/>
          <p:cNvSpPr/>
          <p:nvPr/>
        </p:nvSpPr>
        <p:spPr>
          <a:xfrm>
            <a:off x="4453128" y="4334256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결제 → 계약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25"/>
          <p:cNvSpPr/>
          <p:nvPr/>
        </p:nvSpPr>
        <p:spPr>
          <a:xfrm>
            <a:off x="4462272" y="4645152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결제 완료 후 ContractService의 활성화 메서드를 호출. 결제 트랜잭션 안에서 부르므로 결제 실패 시 계약 상태도 함께 롤백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25"/>
          <p:cNvSpPr/>
          <p:nvPr/>
        </p:nvSpPr>
        <p:spPr>
          <a:xfrm>
            <a:off x="8065008" y="4334256"/>
            <a:ext cx="1417320" cy="274320"/>
          </a:xfrm>
          <a:prstGeom prst="roundRect">
            <a:avLst>
              <a:gd fmla="val 50000" name="adj"/>
            </a:avLst>
          </a:prstGeom>
          <a:solidFill>
            <a:srgbClr val="F5F5F5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25"/>
          <p:cNvSpPr/>
          <p:nvPr/>
        </p:nvSpPr>
        <p:spPr>
          <a:xfrm>
            <a:off x="8065008" y="4334256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알림 → 전 도메인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25"/>
          <p:cNvSpPr/>
          <p:nvPr/>
        </p:nvSpPr>
        <p:spPr>
          <a:xfrm>
            <a:off x="8074152" y="4645152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sendAlarm 공용 메서드 하나로 저장+SSE 발송. 알림 실패가 본 트랜잭션을 깨지 않도록 try/catch 격리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25"/>
          <p:cNvSpPr/>
          <p:nvPr/>
        </p:nvSpPr>
        <p:spPr>
          <a:xfrm>
            <a:off x="548640" y="5330952"/>
            <a:ext cx="11073384" cy="786384"/>
          </a:xfrm>
          <a:prstGeom prst="roundRect">
            <a:avLst>
              <a:gd fmla="val 12791" name="adj"/>
            </a:avLst>
          </a:prstGeom>
          <a:solidFill>
            <a:srgbClr val="171717"/>
          </a:solidFill>
          <a:ln cap="flat" cmpd="sng" w="12700">
            <a:solidFill>
              <a:srgbClr val="17171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25"/>
          <p:cNvSpPr/>
          <p:nvPr/>
        </p:nvSpPr>
        <p:spPr>
          <a:xfrm>
            <a:off x="841248" y="5330952"/>
            <a:ext cx="1051560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826"/>
              </a:lnSpc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FF6B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배운 것   </a:t>
            </a:r>
            <a:r>
              <a:rPr b="0" i="0" lang="en-US" sz="1150" u="none" cap="none" strike="noStrike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여러 명이 같은 DB를 공유할 때 진짜 충돌은 머지 충돌이 아니라 "이 테이블을 누가 쓸 수 있는가"였다. 테이블 단위로 쓰기 소유권을 하나씩만 두고, 다른 도메인은 읽기와 서비스 호출로만 접근하게 하니 병렬 개발이 가능해졌다.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26"/>
          <p:cNvSpPr/>
          <p:nvPr/>
        </p:nvSpPr>
        <p:spPr>
          <a:xfrm>
            <a:off x="566928" y="402336"/>
            <a:ext cx="118872" cy="118872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26"/>
          <p:cNvSpPr/>
          <p:nvPr/>
        </p:nvSpPr>
        <p:spPr>
          <a:xfrm>
            <a:off x="777240" y="32918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4F00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C84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07 · KEY SCREENS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26"/>
          <p:cNvSpPr/>
          <p:nvPr/>
        </p:nvSpPr>
        <p:spPr>
          <a:xfrm>
            <a:off x="548640" y="658368"/>
            <a:ext cx="10424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주요 페이지 ① 대시보드 · 계약 리스트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26"/>
          <p:cNvSpPr/>
          <p:nvPr/>
        </p:nvSpPr>
        <p:spPr>
          <a:xfrm>
            <a:off x="576072" y="1225296"/>
            <a:ext cx="10424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좌측 LNB(248) + 상단 유틸바(60) + 하단 AI 입력바(480) 셸을 전 화면이 공유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26"/>
          <p:cNvSpPr/>
          <p:nvPr/>
        </p:nvSpPr>
        <p:spPr>
          <a:xfrm>
            <a:off x="11247120" y="626364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A3A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24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hots/s01_dashboard.jpg" id="994" name="Google Shape;99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8228" y="1737360"/>
            <a:ext cx="5035784" cy="2926080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</p:pic>
      <p:sp>
        <p:nvSpPr>
          <p:cNvPr id="995" name="Google Shape;995;p26"/>
          <p:cNvSpPr/>
          <p:nvPr/>
        </p:nvSpPr>
        <p:spPr>
          <a:xfrm>
            <a:off x="728228" y="1737360"/>
            <a:ext cx="5035784" cy="292608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26"/>
          <p:cNvSpPr/>
          <p:nvPr/>
        </p:nvSpPr>
        <p:spPr>
          <a:xfrm>
            <a:off x="728228" y="4718304"/>
            <a:ext cx="50357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A3A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/fitb/dashboard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hots/s02_contract_list.jpg" id="997" name="Google Shape;99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7920" y="1744663"/>
            <a:ext cx="5394960" cy="2911473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</p:pic>
      <p:sp>
        <p:nvSpPr>
          <p:cNvPr id="998" name="Google Shape;998;p26"/>
          <p:cNvSpPr/>
          <p:nvPr/>
        </p:nvSpPr>
        <p:spPr>
          <a:xfrm>
            <a:off x="6217920" y="1744663"/>
            <a:ext cx="5394960" cy="2911473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26"/>
          <p:cNvSpPr/>
          <p:nvPr/>
        </p:nvSpPr>
        <p:spPr>
          <a:xfrm>
            <a:off x="6217920" y="4711001"/>
            <a:ext cx="5394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A3A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/fitb/contractpage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26"/>
          <p:cNvSpPr/>
          <p:nvPr/>
        </p:nvSpPr>
        <p:spPr>
          <a:xfrm>
            <a:off x="566928" y="4846320"/>
            <a:ext cx="5394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대시보드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26"/>
          <p:cNvSpPr/>
          <p:nvPr/>
        </p:nvSpPr>
        <p:spPr>
          <a:xfrm>
            <a:off x="585216" y="5175504"/>
            <a:ext cx="5358384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Char char="•"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선택한 위젯을 삭제형 칩으로 상단에 나열하고 우측 "위젯 편집"으로 on/off·순서를 사용자별 저장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Char char="•"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이탈율·총 회원 수·오늘 출석 KPI 카드와 월별 이탈 위험군 추이 차트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Char char="•"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하단 AI 영역 — 왼쪽 질문 카드(누르면 AI가 답변) / 오른쪽 오늘 처리할 일(집계만, 토큰 무소모)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26"/>
          <p:cNvSpPr/>
          <p:nvPr/>
        </p:nvSpPr>
        <p:spPr>
          <a:xfrm>
            <a:off x="6236208" y="4846320"/>
            <a:ext cx="5394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계약 리스트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26"/>
          <p:cNvSpPr/>
          <p:nvPr/>
        </p:nvSpPr>
        <p:spPr>
          <a:xfrm>
            <a:off x="6254496" y="5175504"/>
            <a:ext cx="5358384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Char char="•"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칩형 유형 필터(전체·제휴·임금·이용권·PT·PT 체험)와 이름·아이디 검색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Char char="•"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계약 ID | 유형 | 이름 | 상태 | 금액 | 시작·종료·발행일 | 갱신 — 유형 무관하게 같은 칼럼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Char char="•"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PT 체험은 갱신 칼럼에 "연계 #1440" 배지로 기본 계약과의 관계를 표시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27"/>
          <p:cNvSpPr/>
          <p:nvPr/>
        </p:nvSpPr>
        <p:spPr>
          <a:xfrm>
            <a:off x="566928" y="402336"/>
            <a:ext cx="118872" cy="118872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27"/>
          <p:cNvSpPr/>
          <p:nvPr/>
        </p:nvSpPr>
        <p:spPr>
          <a:xfrm>
            <a:off x="777240" y="32918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4F00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C84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07 · KEY SCREENS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27"/>
          <p:cNvSpPr/>
          <p:nvPr/>
        </p:nvSpPr>
        <p:spPr>
          <a:xfrm>
            <a:off x="548640" y="658368"/>
            <a:ext cx="10424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주요 페이지 ② 계약 상세 · 정산 · 물품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27"/>
          <p:cNvSpPr/>
          <p:nvPr/>
        </p:nvSpPr>
        <p:spPr>
          <a:xfrm>
            <a:off x="576072" y="1225296"/>
            <a:ext cx="10424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계약에서 시작된 데이터가 결제를 거쳐 매출·지출로 이어지는 구간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27"/>
          <p:cNvSpPr/>
          <p:nvPr/>
        </p:nvSpPr>
        <p:spPr>
          <a:xfrm>
            <a:off x="11247120" y="626364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A3A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25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hots/s03_contract_detail.jpg" id="1014" name="Google Shape;101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718" y="1783080"/>
            <a:ext cx="3575149" cy="1929384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</p:pic>
      <p:sp>
        <p:nvSpPr>
          <p:cNvPr id="1015" name="Google Shape;1015;p27"/>
          <p:cNvSpPr/>
          <p:nvPr/>
        </p:nvSpPr>
        <p:spPr>
          <a:xfrm>
            <a:off x="548718" y="1783080"/>
            <a:ext cx="3575149" cy="1929384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27"/>
          <p:cNvSpPr/>
          <p:nvPr/>
        </p:nvSpPr>
        <p:spPr>
          <a:xfrm>
            <a:off x="548718" y="3767328"/>
            <a:ext cx="3575149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A3A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/fitb/contract/1453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27"/>
          <p:cNvSpPr/>
          <p:nvPr/>
        </p:nvSpPr>
        <p:spPr>
          <a:xfrm>
            <a:off x="566928" y="4041648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계약 상세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27"/>
          <p:cNvSpPr/>
          <p:nvPr/>
        </p:nvSpPr>
        <p:spPr>
          <a:xfrm>
            <a:off x="576072" y="4389120"/>
            <a:ext cx="3529584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Char char="•"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유형별 조문을 자동 구성 — PT 체험은 이용 내용·유효기간·예약 취소·환불·운동시간 5개 조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Char char="•"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하단에 발행자·수신자 전자서명 완료 시각 표기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Char char="•"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갱신·연계 이력 테이블과 인쇄(PDF 보관) 지원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hots/s04_settle.jpg" id="1019" name="Google Shape;101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3478" y="1783080"/>
            <a:ext cx="3575149" cy="1929384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</p:pic>
      <p:sp>
        <p:nvSpPr>
          <p:cNvPr id="1020" name="Google Shape;1020;p27"/>
          <p:cNvSpPr/>
          <p:nvPr/>
        </p:nvSpPr>
        <p:spPr>
          <a:xfrm>
            <a:off x="4343478" y="1783080"/>
            <a:ext cx="3575149" cy="1929384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27"/>
          <p:cNvSpPr/>
          <p:nvPr/>
        </p:nvSpPr>
        <p:spPr>
          <a:xfrm>
            <a:off x="4343478" y="3767328"/>
            <a:ext cx="3575149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A3A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/fitb/Settlepage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27"/>
          <p:cNvSpPr/>
          <p:nvPr/>
        </p:nvSpPr>
        <p:spPr>
          <a:xfrm>
            <a:off x="4361688" y="4041648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정산 매출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27"/>
          <p:cNvSpPr/>
          <p:nvPr/>
        </p:nvSpPr>
        <p:spPr>
          <a:xfrm>
            <a:off x="4370832" y="4389120"/>
            <a:ext cx="3529584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Char char="•"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매출 내역 / 지출 관리 탭 칩 + 기간 필터 + 상품명·연락처 검색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Char char="•"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우측 요약 레일 — 순이익 히어로 카드, 커미션 지급 상태, 현재 필터 매출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Char char="•"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쿠폰 사용 건은 할인액(-₩30,000)까지 행에 표시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hots/s05_item.jpg" id="1024" name="Google Shape;1024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38238" y="1783080"/>
            <a:ext cx="3575149" cy="1929384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</p:pic>
      <p:sp>
        <p:nvSpPr>
          <p:cNvPr id="1025" name="Google Shape;1025;p27"/>
          <p:cNvSpPr/>
          <p:nvPr/>
        </p:nvSpPr>
        <p:spPr>
          <a:xfrm>
            <a:off x="8138238" y="1783080"/>
            <a:ext cx="3575149" cy="1929384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27"/>
          <p:cNvSpPr/>
          <p:nvPr/>
        </p:nvSpPr>
        <p:spPr>
          <a:xfrm>
            <a:off x="8138238" y="3767328"/>
            <a:ext cx="3575149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A3A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/fitb/itempage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27"/>
          <p:cNvSpPr/>
          <p:nvPr/>
        </p:nvSpPr>
        <p:spPr>
          <a:xfrm>
            <a:off x="8156448" y="4041648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물품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27"/>
          <p:cNvSpPr/>
          <p:nvPr/>
        </p:nvSpPr>
        <p:spPr>
          <a:xfrm>
            <a:off x="8165592" y="4389120"/>
            <a:ext cx="3529584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Char char="•"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카테고리 칩(기구·소모품·용품·기타)과 정렬 옵션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Char char="•"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구매일·단가·수량·유통기한 배지 — 재고 0은 목록에서 제외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Char char="•"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CSV 내보내기는 화면 필터 조건을 그대로 반영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p27"/>
          <p:cNvSpPr/>
          <p:nvPr/>
        </p:nvSpPr>
        <p:spPr>
          <a:xfrm>
            <a:off x="548640" y="5779008"/>
            <a:ext cx="11073384" cy="475488"/>
          </a:xfrm>
          <a:prstGeom prst="roundRect">
            <a:avLst>
              <a:gd fmla="val 17308" name="adj"/>
            </a:avLst>
          </a:prstGeom>
          <a:solidFill>
            <a:srgbClr val="FAFAF8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27"/>
          <p:cNvSpPr/>
          <p:nvPr/>
        </p:nvSpPr>
        <p:spPr>
          <a:xfrm>
            <a:off x="841248" y="5779008"/>
            <a:ext cx="10515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물품을 등록하면 지출이 자동 생성돼 정산 화면의 순이익에 그대로 반영된다 — 세 화면이 같은 데이터를 다른 각도로 보는 구조.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28"/>
          <p:cNvSpPr/>
          <p:nvPr/>
        </p:nvSpPr>
        <p:spPr>
          <a:xfrm>
            <a:off x="566928" y="402336"/>
            <a:ext cx="118872" cy="118872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28"/>
          <p:cNvSpPr/>
          <p:nvPr/>
        </p:nvSpPr>
        <p:spPr>
          <a:xfrm>
            <a:off x="777240" y="32918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4F00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C84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07 · KEY SCREENS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28"/>
          <p:cNvSpPr/>
          <p:nvPr/>
        </p:nvSpPr>
        <p:spPr>
          <a:xfrm>
            <a:off x="548640" y="658368"/>
            <a:ext cx="10424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주요 페이지 ③ 회원 관리 · 이탈 리포트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28"/>
          <p:cNvSpPr/>
          <p:nvPr/>
        </p:nvSpPr>
        <p:spPr>
          <a:xfrm>
            <a:off x="576072" y="1225296"/>
            <a:ext cx="10424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예측 결과가 화면에서 어떻게 행동으로 이어지는가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28"/>
          <p:cNvSpPr/>
          <p:nvPr/>
        </p:nvSpPr>
        <p:spPr>
          <a:xfrm>
            <a:off x="11247120" y="626364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A3A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hots/s06_members.jpg" id="1041" name="Google Shape;104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744663"/>
            <a:ext cx="5394960" cy="2911473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</p:pic>
      <p:sp>
        <p:nvSpPr>
          <p:cNvPr id="1042" name="Google Shape;1042;p28"/>
          <p:cNvSpPr/>
          <p:nvPr/>
        </p:nvSpPr>
        <p:spPr>
          <a:xfrm>
            <a:off x="548640" y="1744663"/>
            <a:ext cx="5394960" cy="2911473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3" name="Google Shape;1043;p28"/>
          <p:cNvSpPr/>
          <p:nvPr/>
        </p:nvSpPr>
        <p:spPr>
          <a:xfrm>
            <a:off x="548640" y="4711001"/>
            <a:ext cx="5394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A3A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/fitb/management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hots/s10_report.jpg" id="1044" name="Google Shape;104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7920" y="1744663"/>
            <a:ext cx="5394960" cy="2911473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</p:pic>
      <p:sp>
        <p:nvSpPr>
          <p:cNvPr id="1045" name="Google Shape;1045;p28"/>
          <p:cNvSpPr/>
          <p:nvPr/>
        </p:nvSpPr>
        <p:spPr>
          <a:xfrm>
            <a:off x="6217920" y="1744663"/>
            <a:ext cx="5394960" cy="2911473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28"/>
          <p:cNvSpPr/>
          <p:nvPr/>
        </p:nvSpPr>
        <p:spPr>
          <a:xfrm>
            <a:off x="6217920" y="4711001"/>
            <a:ext cx="5394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A3A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/fitb/report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28"/>
          <p:cNvSpPr/>
          <p:nvPr/>
        </p:nvSpPr>
        <p:spPr>
          <a:xfrm>
            <a:off x="566928" y="4846320"/>
            <a:ext cx="5394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회원 · 직원 관리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28"/>
          <p:cNvSpPr/>
          <p:nvPr/>
        </p:nvSpPr>
        <p:spPr>
          <a:xfrm>
            <a:off x="585216" y="5175504"/>
            <a:ext cx="5358384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Char char="•"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역할에 따라 완전히 다른 화면 — 사장님은 회원(31) / 트레이너 성과 / 재등록 임박 3개 탭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Char char="•"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회원별 계약 유형·종료일 D-day·쿠폰 사용 여부를 한 줄에 표시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Char char="•"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트레이너는 출석 확인·담당 회원 현황·PT 캘린더, 관리자는 제휴 계약 만료 관리로 분기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28"/>
          <p:cNvSpPr/>
          <p:nvPr/>
        </p:nvSpPr>
        <p:spPr>
          <a:xfrm>
            <a:off x="6236208" y="4846320"/>
            <a:ext cx="5394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이탈 리포트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28"/>
          <p:cNvSpPr/>
          <p:nvPr/>
        </p:nvSpPr>
        <p:spPr>
          <a:xfrm>
            <a:off x="6254496" y="5175504"/>
            <a:ext cx="5358384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Char char="•"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일별·월별 전환 + 날짜 선택 — 전체 회원·위험군·평균 이탈률·위험도 분포·신규 위험군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Char char="•"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위험도 분포는 25 / 45 / 65 경계의 4단계(안정·관찰·개입·긴급) 색 막대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Char char="•"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SHAP 요인별 조치 — 주당 방문 감소 100%, 방문 공백 55.6%처럼 요인을 펼치면 회원 명단과 조치가 함께 나온다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29"/>
          <p:cNvSpPr/>
          <p:nvPr/>
        </p:nvSpPr>
        <p:spPr>
          <a:xfrm>
            <a:off x="566928" y="402336"/>
            <a:ext cx="118872" cy="118872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29"/>
          <p:cNvSpPr/>
          <p:nvPr/>
        </p:nvSpPr>
        <p:spPr>
          <a:xfrm>
            <a:off x="777240" y="32918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4F00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C84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07 · KEY SCREENS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29"/>
          <p:cNvSpPr/>
          <p:nvPr/>
        </p:nvSpPr>
        <p:spPr>
          <a:xfrm>
            <a:off x="548640" y="658368"/>
            <a:ext cx="10424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주요 페이지 ④ B2C 회원 포털 · 출석 키오스크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29"/>
          <p:cNvSpPr/>
          <p:nvPr/>
        </p:nvSpPr>
        <p:spPr>
          <a:xfrm>
            <a:off x="576072" y="1225296"/>
            <a:ext cx="10424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모바일 기준 단일 컬럼 · 액센트를 라임 축으로 분리해 관리 포털과 시각적으로 구분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29"/>
          <p:cNvSpPr/>
          <p:nvPr/>
        </p:nvSpPr>
        <p:spPr>
          <a:xfrm>
            <a:off x="11247120" y="626364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A3A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27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hots/s07_b2c_home.jpg" id="1061" name="Google Shape;106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0510" y="1737360"/>
            <a:ext cx="1991563" cy="3017520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</p:pic>
      <p:sp>
        <p:nvSpPr>
          <p:cNvPr id="1062" name="Google Shape;1062;p29"/>
          <p:cNvSpPr/>
          <p:nvPr/>
        </p:nvSpPr>
        <p:spPr>
          <a:xfrm>
            <a:off x="1340510" y="1737360"/>
            <a:ext cx="1991563" cy="301752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29"/>
          <p:cNvSpPr/>
          <p:nvPr/>
        </p:nvSpPr>
        <p:spPr>
          <a:xfrm>
            <a:off x="1340510" y="4809744"/>
            <a:ext cx="1991563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A3A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/fitc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29"/>
          <p:cNvSpPr/>
          <p:nvPr/>
        </p:nvSpPr>
        <p:spPr>
          <a:xfrm>
            <a:off x="566928" y="4956048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D7C0F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4D7C0F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회원 홈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29"/>
          <p:cNvSpPr/>
          <p:nvPr/>
        </p:nvSpPr>
        <p:spPr>
          <a:xfrm>
            <a:off x="576072" y="5266944"/>
            <a:ext cx="352958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Char char="•"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최근 30일 출석 일수로 성장하는 아바타 — 슬라이더로 변화를 미리 볼 수 있다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Char char="•"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출석 일수·레벨 배지로 방문 동기를 시각화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Char char="•"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하단 고정 탭바 4종(홈·출석·쿠폰·마이)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hots/s08_b2c_checkin.jpg" id="1066" name="Google Shape;106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35270" y="1737360"/>
            <a:ext cx="1991563" cy="3017520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</p:pic>
      <p:sp>
        <p:nvSpPr>
          <p:cNvPr id="1067" name="Google Shape;1067;p29"/>
          <p:cNvSpPr/>
          <p:nvPr/>
        </p:nvSpPr>
        <p:spPr>
          <a:xfrm>
            <a:off x="5135270" y="1737360"/>
            <a:ext cx="1991563" cy="301752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29"/>
          <p:cNvSpPr/>
          <p:nvPr/>
        </p:nvSpPr>
        <p:spPr>
          <a:xfrm>
            <a:off x="5135270" y="4809744"/>
            <a:ext cx="1991563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A3A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/fitc/mypage/checkin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29"/>
          <p:cNvSpPr/>
          <p:nvPr/>
        </p:nvSpPr>
        <p:spPr>
          <a:xfrm>
            <a:off x="4361688" y="4956048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D7C0F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4D7C0F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출석 기록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29"/>
          <p:cNvSpPr/>
          <p:nvPr/>
        </p:nvSpPr>
        <p:spPr>
          <a:xfrm>
            <a:off x="4370832" y="5266944"/>
            <a:ext cx="352958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Char char="•"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멤버십·내 쿠폰함·출석기록·건의사항·계정설정 칩 서브 내비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Char char="•"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월별 캘린더에 출석 완료일 체크 표시, 오늘 날짜는 라임 테두리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Char char="•"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다가오는 PT 일정도 같은 탭에서 조회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hots/s09_kiosk.jpg" id="1071" name="Google Shape;1071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38160" y="2264433"/>
            <a:ext cx="3575304" cy="1963374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</p:pic>
      <p:sp>
        <p:nvSpPr>
          <p:cNvPr id="1072" name="Google Shape;1072;p29"/>
          <p:cNvSpPr/>
          <p:nvPr/>
        </p:nvSpPr>
        <p:spPr>
          <a:xfrm>
            <a:off x="8138160" y="2264433"/>
            <a:ext cx="3575304" cy="1963374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3" name="Google Shape;1073;p29"/>
          <p:cNvSpPr/>
          <p:nvPr/>
        </p:nvSpPr>
        <p:spPr>
          <a:xfrm>
            <a:off x="8138160" y="4282671"/>
            <a:ext cx="35753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A3A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/fitc/attendance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4" name="Google Shape;1074;p29"/>
          <p:cNvSpPr/>
          <p:nvPr/>
        </p:nvSpPr>
        <p:spPr>
          <a:xfrm>
            <a:off x="8156448" y="4956048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0284C7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출석 키오스크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29"/>
          <p:cNvSpPr/>
          <p:nvPr/>
        </p:nvSpPr>
        <p:spPr>
          <a:xfrm>
            <a:off x="8165592" y="5266944"/>
            <a:ext cx="352958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Char char="•"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로그인 레이아웃과 분리된 무로그인 단독 라우트 — 헬스장 입구 공용 태블릿용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Char char="•"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헬스장 출석 / PT 출석 두 갈래로 시작해 전화번호+비밀번호로 본인 확인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Char char="•"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완료 화면은 7초 뒤 자동 리셋되어 다음 회원이 바로 사용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30"/>
          <p:cNvSpPr/>
          <p:nvPr/>
        </p:nvSpPr>
        <p:spPr>
          <a:xfrm>
            <a:off x="566928" y="402336"/>
            <a:ext cx="118872" cy="118872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30"/>
          <p:cNvSpPr/>
          <p:nvPr/>
        </p:nvSpPr>
        <p:spPr>
          <a:xfrm>
            <a:off x="777240" y="32918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4F00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C84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08 · ROADMAP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30"/>
          <p:cNvSpPr/>
          <p:nvPr/>
        </p:nvSpPr>
        <p:spPr>
          <a:xfrm>
            <a:off x="548640" y="658368"/>
            <a:ext cx="10424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확장 로드맵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30"/>
          <p:cNvSpPr/>
          <p:nvPr/>
        </p:nvSpPr>
        <p:spPr>
          <a:xfrm>
            <a:off x="576072" y="1225296"/>
            <a:ext cx="10424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현재 범위에서 어디까지, 어떤 순서로 넓혀 갈 것인가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30"/>
          <p:cNvSpPr/>
          <p:nvPr/>
        </p:nvSpPr>
        <p:spPr>
          <a:xfrm>
            <a:off x="11247120" y="626364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A3A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28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30"/>
          <p:cNvSpPr/>
          <p:nvPr/>
        </p:nvSpPr>
        <p:spPr>
          <a:xfrm>
            <a:off x="548640" y="1810512"/>
            <a:ext cx="7498080" cy="896112"/>
          </a:xfrm>
          <a:prstGeom prst="roundRect">
            <a:avLst>
              <a:gd fmla="val 10204" name="adj"/>
            </a:avLst>
          </a:prstGeom>
          <a:solidFill>
            <a:srgbClr val="F0FDF4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p30"/>
          <p:cNvSpPr/>
          <p:nvPr/>
        </p:nvSpPr>
        <p:spPr>
          <a:xfrm>
            <a:off x="768096" y="2057400"/>
            <a:ext cx="868680" cy="402336"/>
          </a:xfrm>
          <a:prstGeom prst="roundRect">
            <a:avLst>
              <a:gd fmla="val 20455" name="adj"/>
            </a:avLst>
          </a:prstGeom>
          <a:solidFill>
            <a:srgbClr val="1580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8" name="Google Shape;1088;p30"/>
          <p:cNvSpPr/>
          <p:nvPr/>
        </p:nvSpPr>
        <p:spPr>
          <a:xfrm>
            <a:off x="768096" y="2057400"/>
            <a:ext cx="868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NOW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30"/>
          <p:cNvSpPr/>
          <p:nvPr/>
        </p:nvSpPr>
        <p:spPr>
          <a:xfrm>
            <a:off x="1783080" y="1920240"/>
            <a:ext cx="6126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15803D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현재 범위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30"/>
          <p:cNvSpPr/>
          <p:nvPr/>
        </p:nvSpPr>
        <p:spPr>
          <a:xfrm>
            <a:off x="1792224" y="2194560"/>
            <a:ext cx="61264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사장님 대상 조회 전용 AI 비서 · 계약 1~5 · 결제/정산 · 출석/PT · 이탈 예측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관리자·트레이너에게는 화면을 미리 열어두고 서버에서 차단하는 프리뷰 게이트로 다음 단계를 준비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30"/>
          <p:cNvSpPr/>
          <p:nvPr/>
        </p:nvSpPr>
        <p:spPr>
          <a:xfrm>
            <a:off x="548640" y="2798064"/>
            <a:ext cx="7498080" cy="896112"/>
          </a:xfrm>
          <a:prstGeom prst="roundRect">
            <a:avLst>
              <a:gd fmla="val 10204" name="adj"/>
            </a:avLst>
          </a:prstGeom>
          <a:solidFill>
            <a:srgbClr val="FFF0E8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2" name="Google Shape;1092;p30"/>
          <p:cNvSpPr/>
          <p:nvPr/>
        </p:nvSpPr>
        <p:spPr>
          <a:xfrm>
            <a:off x="768096" y="3044952"/>
            <a:ext cx="868680" cy="402336"/>
          </a:xfrm>
          <a:prstGeom prst="roundRect">
            <a:avLst>
              <a:gd fmla="val 20455" name="adj"/>
            </a:avLst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p30"/>
          <p:cNvSpPr/>
          <p:nvPr/>
        </p:nvSpPr>
        <p:spPr>
          <a:xfrm>
            <a:off x="768096" y="3044952"/>
            <a:ext cx="868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Phase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4" name="Google Shape;1094;p30"/>
          <p:cNvSpPr/>
          <p:nvPr/>
        </p:nvSpPr>
        <p:spPr>
          <a:xfrm>
            <a:off x="1783080" y="2907792"/>
            <a:ext cx="6126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FF6B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운영 자동화 완성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30"/>
          <p:cNvSpPr/>
          <p:nvPr/>
        </p:nvSpPr>
        <p:spPr>
          <a:xfrm>
            <a:off x="1792224" y="3182112"/>
            <a:ext cx="61264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비서를 쓰기 영역까지 — 관리자·트레이너 확장 + 쓰기 도구 + 사람 확인 카드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계약·출석의 마지막 자동화 고리(전자서명 원본 보관 · PT 세션 소진 차감 · 서명 대기 관리)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30"/>
          <p:cNvSpPr/>
          <p:nvPr/>
        </p:nvSpPr>
        <p:spPr>
          <a:xfrm>
            <a:off x="548640" y="3785616"/>
            <a:ext cx="7498080" cy="896112"/>
          </a:xfrm>
          <a:prstGeom prst="roundRect">
            <a:avLst>
              <a:gd fmla="val 10204" name="adj"/>
            </a:avLst>
          </a:prstGeom>
          <a:solidFill>
            <a:srgbClr val="EFF6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30"/>
          <p:cNvSpPr/>
          <p:nvPr/>
        </p:nvSpPr>
        <p:spPr>
          <a:xfrm>
            <a:off x="768096" y="4032504"/>
            <a:ext cx="868680" cy="402336"/>
          </a:xfrm>
          <a:prstGeom prst="roundRect">
            <a:avLst>
              <a:gd fmla="val 20455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30"/>
          <p:cNvSpPr/>
          <p:nvPr/>
        </p:nvSpPr>
        <p:spPr>
          <a:xfrm>
            <a:off x="768096" y="4032504"/>
            <a:ext cx="868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Phase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30"/>
          <p:cNvSpPr/>
          <p:nvPr/>
        </p:nvSpPr>
        <p:spPr>
          <a:xfrm>
            <a:off x="1783080" y="3895344"/>
            <a:ext cx="6126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분석 · 연동 확장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30"/>
          <p:cNvSpPr/>
          <p:nvPr/>
        </p:nvSpPr>
        <p:spPr>
          <a:xfrm>
            <a:off x="1792224" y="4169664"/>
            <a:ext cx="61264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대시보드를 지표 화면에서 분석 도구로 — 위젯 드릴다운 · 목표 달성률 · 데이터 사유 구분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외부 서비스 연동을 MCP로 분리(알림톡 · PG · 캘린더 · CRM) + 관리자 콘솔 경영 지표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30"/>
          <p:cNvSpPr/>
          <p:nvPr/>
        </p:nvSpPr>
        <p:spPr>
          <a:xfrm>
            <a:off x="548640" y="4773168"/>
            <a:ext cx="7498080" cy="896112"/>
          </a:xfrm>
          <a:prstGeom prst="roundRect">
            <a:avLst>
              <a:gd fmla="val 10204" name="adj"/>
            </a:avLst>
          </a:prstGeom>
          <a:solidFill>
            <a:srgbClr val="F3E8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30"/>
          <p:cNvSpPr/>
          <p:nvPr/>
        </p:nvSpPr>
        <p:spPr>
          <a:xfrm>
            <a:off x="768096" y="5020056"/>
            <a:ext cx="868680" cy="402336"/>
          </a:xfrm>
          <a:prstGeom prst="roundRect">
            <a:avLst>
              <a:gd fmla="val 20455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30"/>
          <p:cNvSpPr/>
          <p:nvPr/>
        </p:nvSpPr>
        <p:spPr>
          <a:xfrm>
            <a:off x="768096" y="5020056"/>
            <a:ext cx="868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Phase 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4" name="Google Shape;1104;p30"/>
          <p:cNvSpPr/>
          <p:nvPr/>
        </p:nvSpPr>
        <p:spPr>
          <a:xfrm>
            <a:off x="1783080" y="4882896"/>
            <a:ext cx="6126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7C3AED"/>
                </a:solidFill>
                <a:latin typeface="Malgun Gothic"/>
                <a:ea typeface="Malgun Gothic"/>
                <a:cs typeface="Malgun Gothic"/>
                <a:sym typeface="Malgun Gothic"/>
              </a:rPr>
              <a:t>플랫폼화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30"/>
          <p:cNvSpPr/>
          <p:nvPr/>
        </p:nvSpPr>
        <p:spPr>
          <a:xfrm>
            <a:off x="1792224" y="5157216"/>
            <a:ext cx="61264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내부 도구까지 MCP로 승격해 외부에서도 붙일 수 있는 구조로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회원(B2C) 비서 확장 + 사장님 요금제 기반 수익 모델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30"/>
          <p:cNvSpPr/>
          <p:nvPr/>
        </p:nvSpPr>
        <p:spPr>
          <a:xfrm>
            <a:off x="8284464" y="1810512"/>
            <a:ext cx="3337560" cy="1993392"/>
          </a:xfrm>
          <a:prstGeom prst="roundRect">
            <a:avLst>
              <a:gd fmla="val 5046" name="adj"/>
            </a:avLst>
          </a:prstGeom>
          <a:solidFill>
            <a:srgbClr val="171717"/>
          </a:solidFill>
          <a:ln cap="flat" cmpd="sng" w="12700">
            <a:solidFill>
              <a:srgbClr val="17171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7" name="Google Shape;1107;p30"/>
          <p:cNvSpPr/>
          <p:nvPr/>
        </p:nvSpPr>
        <p:spPr>
          <a:xfrm>
            <a:off x="8540496" y="1975104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FF6B00"/>
                </a:solidFill>
                <a:latin typeface="Malgun Gothic"/>
                <a:ea typeface="Malgun Gothic"/>
                <a:cs typeface="Malgun Gothic"/>
                <a:sym typeface="Malgun Gothic"/>
              </a:rPr>
              <a:t>Phase 2 착수 전제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30"/>
          <p:cNvSpPr/>
          <p:nvPr/>
        </p:nvSpPr>
        <p:spPr>
          <a:xfrm>
            <a:off x="8549640" y="2286000"/>
            <a:ext cx="283464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0D0D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D0D0D0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비서는 오케스트레이터·도구·감사 로그까지 완성돼 있고, Anthropic 조직 생성과 크레딧 충전만 끝나면 실서비스로 바로 전환된다.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0D0D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D0D0D0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프리뷰 게이트 분기 하나만 제거하면 역할별 도구가 그대로 동작한다.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p30"/>
          <p:cNvSpPr/>
          <p:nvPr/>
        </p:nvSpPr>
        <p:spPr>
          <a:xfrm>
            <a:off x="8284464" y="3913632"/>
            <a:ext cx="3337560" cy="2084832"/>
          </a:xfrm>
          <a:prstGeom prst="roundRect">
            <a:avLst>
              <a:gd fmla="val 4825" name="adj"/>
            </a:avLst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0" name="Google Shape;1110;p30"/>
          <p:cNvSpPr/>
          <p:nvPr/>
        </p:nvSpPr>
        <p:spPr>
          <a:xfrm>
            <a:off x="8540496" y="4078224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설계 방향 선택지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30"/>
          <p:cNvSpPr/>
          <p:nvPr/>
        </p:nvSpPr>
        <p:spPr>
          <a:xfrm>
            <a:off x="8549640" y="4352544"/>
            <a:ext cx="2834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A3A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Phase 2와 함께 방향을 정할 항목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30"/>
          <p:cNvSpPr/>
          <p:nvPr/>
        </p:nvSpPr>
        <p:spPr>
          <a:xfrm>
            <a:off x="8549640" y="4626864"/>
            <a:ext cx="28803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50"/>
              <a:buFont typeface="Malgun Gothic"/>
              <a:buChar char="•"/>
            </a:pPr>
            <a:r>
              <a:rPr b="0" i="0" lang="en-US" sz="9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다크모드 활성화 — 토큰 수렴은 이미 완료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6842"/>
              </a:lnSpc>
              <a:spcBef>
                <a:spcPts val="700"/>
              </a:spcBef>
              <a:spcAft>
                <a:spcPts val="0"/>
              </a:spcAft>
              <a:buClr>
                <a:srgbClr val="525252"/>
              </a:buClr>
              <a:buSzPts val="950"/>
              <a:buFont typeface="Malgun Gothic"/>
              <a:buChar char="•"/>
            </a:pPr>
            <a:r>
              <a:rPr b="0" i="0" lang="en-US" sz="9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좌측 메뉴 지점명·대표 이미지 노출 방식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6842"/>
              </a:lnSpc>
              <a:spcBef>
                <a:spcPts val="700"/>
              </a:spcBef>
              <a:spcAft>
                <a:spcPts val="0"/>
              </a:spcAft>
              <a:buClr>
                <a:srgbClr val="525252"/>
              </a:buClr>
              <a:buSzPts val="950"/>
              <a:buFont typeface="Malgun Gothic"/>
              <a:buChar char="•"/>
            </a:pPr>
            <a:r>
              <a:rPr b="0" i="0" lang="en-US" sz="9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역할별 메뉴 노출 범위 확정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6842"/>
              </a:lnSpc>
              <a:spcBef>
                <a:spcPts val="700"/>
              </a:spcBef>
              <a:spcAft>
                <a:spcPts val="0"/>
              </a:spcAft>
              <a:buClr>
                <a:srgbClr val="525252"/>
              </a:buClr>
              <a:buSzPts val="950"/>
              <a:buFont typeface="Malgun Gothic"/>
              <a:buChar char="•"/>
            </a:pPr>
            <a:r>
              <a:rPr b="0" i="0" lang="en-US" sz="9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풀폭 버튼 라운드 값 통일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30"/>
          <p:cNvSpPr/>
          <p:nvPr/>
        </p:nvSpPr>
        <p:spPr>
          <a:xfrm>
            <a:off x="548640" y="5797296"/>
            <a:ext cx="7498080" cy="475488"/>
          </a:xfrm>
          <a:prstGeom prst="roundRect">
            <a:avLst>
              <a:gd fmla="val 17308" name="adj"/>
            </a:avLst>
          </a:prstGeom>
          <a:solidFill>
            <a:srgbClr val="FAFAF8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4" name="Google Shape;1114;p30"/>
          <p:cNvSpPr/>
          <p:nvPr/>
        </p:nvSpPr>
        <p:spPr>
          <a:xfrm>
            <a:off x="804672" y="5797296"/>
            <a:ext cx="70408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 단계는 앞 단계의 구조를 그대로 재사용한다 — 도구 레지스트리·확인 카드·감사 로그는 Phase 3·4에서도 같은 골격을 쓴다.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31"/>
          <p:cNvSpPr/>
          <p:nvPr/>
        </p:nvSpPr>
        <p:spPr>
          <a:xfrm>
            <a:off x="566928" y="402336"/>
            <a:ext cx="118872" cy="118872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31"/>
          <p:cNvSpPr/>
          <p:nvPr/>
        </p:nvSpPr>
        <p:spPr>
          <a:xfrm>
            <a:off x="777240" y="32918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4F00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C84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08 · ROADMAP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p31"/>
          <p:cNvSpPr/>
          <p:nvPr/>
        </p:nvSpPr>
        <p:spPr>
          <a:xfrm>
            <a:off x="548640" y="658368"/>
            <a:ext cx="10424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Phase 2 — 무엇을 넓히는가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p31"/>
          <p:cNvSpPr/>
          <p:nvPr/>
        </p:nvSpPr>
        <p:spPr>
          <a:xfrm>
            <a:off x="576072" y="1225296"/>
            <a:ext cx="10424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7A7A7A"/>
                </a:solidFill>
                <a:latin typeface="Malgun Gothic"/>
                <a:ea typeface="Malgun Gothic"/>
                <a:cs typeface="Malgun Gothic"/>
                <a:sym typeface="Malgun Gothic"/>
              </a:rPr>
              <a:t>세 축을 동시에 확장하되, 지금 구조를 바꾸지 않고 이어 붙이는 범위로 잡았다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" name="Google Shape;1124;p31"/>
          <p:cNvSpPr/>
          <p:nvPr/>
        </p:nvSpPr>
        <p:spPr>
          <a:xfrm>
            <a:off x="11247120" y="626364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A3A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29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5" name="Google Shape;1125;p31"/>
          <p:cNvSpPr/>
          <p:nvPr/>
        </p:nvSpPr>
        <p:spPr>
          <a:xfrm>
            <a:off x="548640" y="1783080"/>
            <a:ext cx="3575304" cy="3703320"/>
          </a:xfrm>
          <a:prstGeom prst="roundRect">
            <a:avLst>
              <a:gd fmla="val 3069" name="adj"/>
            </a:avLst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6" name="Google Shape;1126;p31"/>
          <p:cNvSpPr/>
          <p:nvPr/>
        </p:nvSpPr>
        <p:spPr>
          <a:xfrm>
            <a:off x="548640" y="1783080"/>
            <a:ext cx="3575304" cy="777240"/>
          </a:xfrm>
          <a:prstGeom prst="roundRect">
            <a:avLst>
              <a:gd fmla="val 14118" name="adj"/>
            </a:avLst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p31"/>
          <p:cNvSpPr/>
          <p:nvPr/>
        </p:nvSpPr>
        <p:spPr>
          <a:xfrm>
            <a:off x="548640" y="2359152"/>
            <a:ext cx="3575304" cy="201168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31"/>
          <p:cNvSpPr/>
          <p:nvPr/>
        </p:nvSpPr>
        <p:spPr>
          <a:xfrm>
            <a:off x="804672" y="1847088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비서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31"/>
          <p:cNvSpPr/>
          <p:nvPr/>
        </p:nvSpPr>
        <p:spPr>
          <a:xfrm>
            <a:off x="813816" y="217627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F5F5F5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조회에서 실행으로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0" name="Google Shape;1130;p31"/>
          <p:cNvSpPr/>
          <p:nvPr/>
        </p:nvSpPr>
        <p:spPr>
          <a:xfrm>
            <a:off x="804672" y="2743200"/>
            <a:ext cx="3063240" cy="260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Char char="•"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관리자·트레이너까지 조회 도구 확장 — 프리뷰 게이트 분기 제거만으로 동작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Char char="•"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쓰기 도구 도입 — 지출 등록 · 쿠폰 발송 · 결제 · 계약 발행/서명 · 커미션 생성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Char char="•"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되돌릴 수 없는 작업은 사람 확인 카드를 거쳐 실행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Char char="•"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토큰 단위 스트리밍으로 응답 체감 속도 개선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Char char="•"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모바일 대응 — 현재는 PC 우선으로 확정한 범위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31"/>
          <p:cNvSpPr/>
          <p:nvPr/>
        </p:nvSpPr>
        <p:spPr>
          <a:xfrm>
            <a:off x="4343400" y="1783080"/>
            <a:ext cx="3575304" cy="3703320"/>
          </a:xfrm>
          <a:prstGeom prst="roundRect">
            <a:avLst>
              <a:gd fmla="val 3069" name="adj"/>
            </a:avLst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Google Shape;1132;p31"/>
          <p:cNvSpPr/>
          <p:nvPr/>
        </p:nvSpPr>
        <p:spPr>
          <a:xfrm>
            <a:off x="4343400" y="1783080"/>
            <a:ext cx="3575304" cy="777240"/>
          </a:xfrm>
          <a:prstGeom prst="roundRect">
            <a:avLst>
              <a:gd fmla="val 14118" name="adj"/>
            </a:avLst>
          </a:prstGeom>
          <a:solidFill>
            <a:srgbClr val="0284C7"/>
          </a:solidFill>
          <a:ln cap="flat" cmpd="sng" w="12700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3" name="Google Shape;1133;p31"/>
          <p:cNvSpPr/>
          <p:nvPr/>
        </p:nvSpPr>
        <p:spPr>
          <a:xfrm>
            <a:off x="4343400" y="2359152"/>
            <a:ext cx="3575304" cy="201168"/>
          </a:xfrm>
          <a:prstGeom prst="rect">
            <a:avLst/>
          </a:prstGeom>
          <a:solidFill>
            <a:srgbClr val="0284C7"/>
          </a:solidFill>
          <a:ln cap="flat" cmpd="sng" w="12700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p31"/>
          <p:cNvSpPr/>
          <p:nvPr/>
        </p:nvSpPr>
        <p:spPr>
          <a:xfrm>
            <a:off x="4599432" y="1847088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계약 · 출석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p31"/>
          <p:cNvSpPr/>
          <p:nvPr/>
        </p:nvSpPr>
        <p:spPr>
          <a:xfrm>
            <a:off x="4608576" y="217627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F5F5F5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자동화의 마지막 고리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p31"/>
          <p:cNvSpPr/>
          <p:nvPr/>
        </p:nvSpPr>
        <p:spPr>
          <a:xfrm>
            <a:off x="4599432" y="2743200"/>
            <a:ext cx="3063240" cy="260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Char char="•"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전자서명 원본 보관 — 현재 캔버스로 받은 서명을 이미지로 남기는 설계 추가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Char char="•"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PT 세션 소진 시점의 잔여 자동 차감 — 출석 기록과의 연계 방식 확정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Char char="•"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발행한 계약 / 서명할 계약 탭 분리 + 서명 대기 배지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Char char="•"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작성 중 이탈 방지 안내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Char char="•"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실시간 동기화(SSE) — 현재는 재조회 방식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7" name="Google Shape;1137;p31"/>
          <p:cNvSpPr/>
          <p:nvPr/>
        </p:nvSpPr>
        <p:spPr>
          <a:xfrm>
            <a:off x="8138160" y="1783080"/>
            <a:ext cx="3575304" cy="3703320"/>
          </a:xfrm>
          <a:prstGeom prst="roundRect">
            <a:avLst>
              <a:gd fmla="val 3069" name="adj"/>
            </a:avLst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17171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8" name="Google Shape;1138;p31"/>
          <p:cNvSpPr/>
          <p:nvPr/>
        </p:nvSpPr>
        <p:spPr>
          <a:xfrm>
            <a:off x="8138160" y="1783080"/>
            <a:ext cx="3575304" cy="777240"/>
          </a:xfrm>
          <a:prstGeom prst="roundRect">
            <a:avLst>
              <a:gd fmla="val 14118" name="adj"/>
            </a:avLst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31"/>
          <p:cNvSpPr/>
          <p:nvPr/>
        </p:nvSpPr>
        <p:spPr>
          <a:xfrm>
            <a:off x="8138160" y="2359152"/>
            <a:ext cx="3575304" cy="201168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31"/>
          <p:cNvSpPr/>
          <p:nvPr/>
        </p:nvSpPr>
        <p:spPr>
          <a:xfrm>
            <a:off x="8394192" y="1847088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대시보드 · 보안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1" name="Google Shape;1141;p31"/>
          <p:cNvSpPr/>
          <p:nvPr/>
        </p:nvSpPr>
        <p:spPr>
          <a:xfrm>
            <a:off x="8403336" y="217627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F5F5F5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지표에서 분석으로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p31"/>
          <p:cNvSpPr/>
          <p:nvPr/>
        </p:nvSpPr>
        <p:spPr>
          <a:xfrm>
            <a:off x="8394192" y="2743200"/>
            <a:ext cx="3063240" cy="260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Char char="•"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위젯 클릭 시 상세 뷰 진입 · 위젯 크기 조절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Char char="•"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없음 사유 구분 — 0건 / 미연동 / 최소 기간 미충족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Char char="•"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목표 달성률 지표 도입 — 데이터 소스 설계 선행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Char char="•"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위젯에서 바로 AI에게 심화 질문 보내기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Malgun Gothic"/>
              <a:buChar char="•"/>
            </a:pPr>
            <a:r>
              <a:rPr b="0" i="0" lang="en-US" sz="100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권한 애너테이션 기반 인가 도입 — 현재의 수동 검증을 프레임워크 레벨로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31"/>
          <p:cNvSpPr/>
          <p:nvPr/>
        </p:nvSpPr>
        <p:spPr>
          <a:xfrm>
            <a:off x="548640" y="5623560"/>
            <a:ext cx="11073384" cy="658368"/>
          </a:xfrm>
          <a:prstGeom prst="roundRect">
            <a:avLst>
              <a:gd fmla="val 13889" name="adj"/>
            </a:avLst>
          </a:prstGeom>
          <a:solidFill>
            <a:srgbClr val="FAFAF8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4" name="Google Shape;1144;p31"/>
          <p:cNvSpPr/>
          <p:nvPr/>
        </p:nvSpPr>
        <p:spPr>
          <a:xfrm>
            <a:off x="841248" y="5623560"/>
            <a:ext cx="10515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171717"/>
                </a:solidFill>
                <a:latin typeface="Malgun Gothic"/>
                <a:ea typeface="Malgun Gothic"/>
                <a:cs typeface="Malgun Gothic"/>
                <a:sym typeface="Malgun Gothic"/>
              </a:rPr>
              <a:t>범위에서 뺀 것   </a:t>
            </a:r>
            <a:r>
              <a:rPr b="0" i="0" lang="en-US" sz="1050" u="none" cap="none" strike="noStrike">
                <a:solidFill>
                  <a:srgbClr val="525252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계약 리스트 정렬은 서버 페이징 구조라 정렬 파라미터를 백엔드에 먼저 넣어야 의미가 있고, 트레이너 소개 요청은 요청·소개 상태를 담을 구조가 새로 필요하다 — 둘 다 다음 단계의 선행 작업으로 넘겼다.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7"/>
        </a:solidFill>
      </p:bgPr>
    </p:bg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32"/>
          <p:cNvSpPr/>
          <p:nvPr/>
        </p:nvSpPr>
        <p:spPr>
          <a:xfrm>
            <a:off x="822960" y="1591056"/>
            <a:ext cx="164592" cy="164592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1" name="Google Shape;1151;p32"/>
          <p:cNvSpPr/>
          <p:nvPr/>
        </p:nvSpPr>
        <p:spPr>
          <a:xfrm>
            <a:off x="1097280" y="1508760"/>
            <a:ext cx="5486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FF6B00"/>
                </a:solidFill>
                <a:latin typeface="Malgun Gothic"/>
                <a:ea typeface="Malgun Gothic"/>
                <a:cs typeface="Malgun Gothic"/>
                <a:sym typeface="Malgun Gothic"/>
              </a:rPr>
              <a:t>WRAP UP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2" name="Google Shape;1152;p32"/>
          <p:cNvSpPr/>
          <p:nvPr/>
        </p:nvSpPr>
        <p:spPr>
          <a:xfrm>
            <a:off x="804672" y="1920240"/>
            <a:ext cx="6400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Malgun Gothic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정리하며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p32"/>
          <p:cNvSpPr/>
          <p:nvPr/>
        </p:nvSpPr>
        <p:spPr>
          <a:xfrm>
            <a:off x="804672" y="3017520"/>
            <a:ext cx="6675120" cy="713232"/>
          </a:xfrm>
          <a:prstGeom prst="roundRect">
            <a:avLst>
              <a:gd fmla="val 12821" name="adj"/>
            </a:avLst>
          </a:prstGeom>
          <a:solidFill>
            <a:srgbClr val="1F1F1F"/>
          </a:solidFill>
          <a:ln cap="flat" cmpd="sng" w="12700">
            <a:solidFill>
              <a:srgbClr val="2C2C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4" name="Google Shape;1154;p32"/>
          <p:cNvSpPr/>
          <p:nvPr/>
        </p:nvSpPr>
        <p:spPr>
          <a:xfrm>
            <a:off x="1060704" y="3090672"/>
            <a:ext cx="6217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계약을 축으로 도메인을 연결했다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5" name="Google Shape;1155;p32"/>
          <p:cNvSpPr/>
          <p:nvPr/>
        </p:nvSpPr>
        <p:spPr>
          <a:xfrm>
            <a:off x="1069848" y="3383280"/>
            <a:ext cx="6263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9E9E9E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결제·정산·출석·PT가 계약 상태 하나로 정합성을 유지한다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32"/>
          <p:cNvSpPr/>
          <p:nvPr/>
        </p:nvSpPr>
        <p:spPr>
          <a:xfrm>
            <a:off x="804672" y="3858768"/>
            <a:ext cx="6675120" cy="713232"/>
          </a:xfrm>
          <a:prstGeom prst="roundRect">
            <a:avLst>
              <a:gd fmla="val 12821" name="adj"/>
            </a:avLst>
          </a:prstGeom>
          <a:solidFill>
            <a:srgbClr val="1F1F1F"/>
          </a:solidFill>
          <a:ln cap="flat" cmpd="sng" w="12700">
            <a:solidFill>
              <a:srgbClr val="2C2C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7" name="Google Shape;1157;p32"/>
          <p:cNvSpPr/>
          <p:nvPr/>
        </p:nvSpPr>
        <p:spPr>
          <a:xfrm>
            <a:off x="1060704" y="3931920"/>
            <a:ext cx="6217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예측에 원인을 함께 실었다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8" name="Google Shape;1158;p32"/>
          <p:cNvSpPr/>
          <p:nvPr/>
        </p:nvSpPr>
        <p:spPr>
          <a:xfrm>
            <a:off x="1069848" y="4224528"/>
            <a:ext cx="6263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9E9E9E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확률만으로는 움직일 수 없어 SHAP 요인까지 내려 행동으로 연결했다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9" name="Google Shape;1159;p32"/>
          <p:cNvSpPr/>
          <p:nvPr/>
        </p:nvSpPr>
        <p:spPr>
          <a:xfrm>
            <a:off x="804672" y="4700016"/>
            <a:ext cx="6675120" cy="713232"/>
          </a:xfrm>
          <a:prstGeom prst="roundRect">
            <a:avLst>
              <a:gd fmla="val 12821" name="adj"/>
            </a:avLst>
          </a:prstGeom>
          <a:solidFill>
            <a:srgbClr val="1F1F1F"/>
          </a:solidFill>
          <a:ln cap="flat" cmpd="sng" w="12700">
            <a:solidFill>
              <a:srgbClr val="2C2C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0" name="Google Shape;1160;p32"/>
          <p:cNvSpPr/>
          <p:nvPr/>
        </p:nvSpPr>
        <p:spPr>
          <a:xfrm>
            <a:off x="1060704" y="4773168"/>
            <a:ext cx="6217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LLM을 신뢰 경계 밖에 두었다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1" name="Google Shape;1161;p32"/>
          <p:cNvSpPr/>
          <p:nvPr/>
        </p:nvSpPr>
        <p:spPr>
          <a:xfrm>
            <a:off x="1069848" y="5065776"/>
            <a:ext cx="6263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9E9E9E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모델은 호출을 제안만 하고 권한·테넌트 격리는 서버가 강제한다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2" name="Google Shape;1162;p32"/>
          <p:cNvSpPr/>
          <p:nvPr/>
        </p:nvSpPr>
        <p:spPr>
          <a:xfrm>
            <a:off x="804672" y="5541264"/>
            <a:ext cx="6675120" cy="713232"/>
          </a:xfrm>
          <a:prstGeom prst="roundRect">
            <a:avLst>
              <a:gd fmla="val 12821" name="adj"/>
            </a:avLst>
          </a:prstGeom>
          <a:solidFill>
            <a:srgbClr val="1F1F1F"/>
          </a:solidFill>
          <a:ln cap="flat" cmpd="sng" w="12700">
            <a:solidFill>
              <a:srgbClr val="2C2C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p32"/>
          <p:cNvSpPr/>
          <p:nvPr/>
        </p:nvSpPr>
        <p:spPr>
          <a:xfrm>
            <a:off x="1060704" y="5614416"/>
            <a:ext cx="6217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실패의 범위를 설계했다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4" name="Google Shape;1164;p32"/>
          <p:cNvSpPr/>
          <p:nvPr/>
        </p:nvSpPr>
        <p:spPr>
          <a:xfrm>
            <a:off x="1069848" y="5907024"/>
            <a:ext cx="6263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9E9E9E"/>
                </a:solidFill>
                <a:latin typeface="Malgun Gothic"/>
                <a:ea typeface="Malgun Gothic"/>
                <a:cs typeface="Malgun Gothic"/>
                <a:sym typeface="Malgun Gothic"/>
              </a:rPr>
              <a:t>무엇을 함께 롤백하고 무엇을 흡수할지를 도메인마다 정해 두었다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5" name="Google Shape;1165;p32"/>
          <p:cNvSpPr/>
          <p:nvPr/>
        </p:nvSpPr>
        <p:spPr>
          <a:xfrm>
            <a:off x="7955280" y="3017520"/>
            <a:ext cx="3429000" cy="2395728"/>
          </a:xfrm>
          <a:prstGeom prst="roundRect">
            <a:avLst>
              <a:gd fmla="val 6107" name="adj"/>
            </a:avLst>
          </a:prstGeom>
          <a:solidFill>
            <a:srgbClr val="1F1F1F"/>
          </a:solidFill>
          <a:ln cap="flat" cmpd="sng" w="12700">
            <a:solidFill>
              <a:srgbClr val="2C2C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32"/>
          <p:cNvSpPr/>
          <p:nvPr/>
        </p:nvSpPr>
        <p:spPr>
          <a:xfrm>
            <a:off x="7955280" y="3657600"/>
            <a:ext cx="3429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감사합니다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7" name="Google Shape;1167;p32"/>
          <p:cNvSpPr/>
          <p:nvPr/>
        </p:nvSpPr>
        <p:spPr>
          <a:xfrm>
            <a:off x="7955280" y="4206240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FF6B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질문 받겠습니다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p32"/>
          <p:cNvSpPr/>
          <p:nvPr/>
        </p:nvSpPr>
        <p:spPr>
          <a:xfrm>
            <a:off x="7955280" y="4754880"/>
            <a:ext cx="3429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7E7E7E"/>
                </a:solidFill>
                <a:latin typeface="Malgun Gothic"/>
                <a:ea typeface="Malgun Gothic"/>
                <a:cs typeface="Malgun Gothic"/>
                <a:sym typeface="Malgun Gothic"/>
              </a:rPr>
              <a:t>송태현 · 조종현 · 구영주 · 김현서 · 이유빈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9" name="Google Shape;1169;p32"/>
          <p:cNvSpPr/>
          <p:nvPr/>
        </p:nvSpPr>
        <p:spPr>
          <a:xfrm>
            <a:off x="11247120" y="626364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5E5E5E"/>
                </a:solidFill>
                <a:latin typeface="Malgun Gothic"/>
                <a:ea typeface="Malgun Gothic"/>
                <a:cs typeface="Malgun Gothic"/>
                <a:sym typeface="Malgun Gothic"/>
              </a:rPr>
              <a:t>30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